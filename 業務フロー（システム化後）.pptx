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handoutMasterIdLst>
    <p:handoutMasterId r:id="rId31"/>
  </p:handoutMasterIdLst>
  <p:sldIdLst>
    <p:sldId id="283" r:id="rId5"/>
    <p:sldId id="284" r:id="rId6"/>
    <p:sldId id="265" r:id="rId7"/>
    <p:sldId id="281" r:id="rId8"/>
    <p:sldId id="269" r:id="rId9"/>
    <p:sldId id="268" r:id="rId10"/>
    <p:sldId id="267" r:id="rId11"/>
    <p:sldId id="279" r:id="rId12"/>
    <p:sldId id="282" r:id="rId13"/>
    <p:sldId id="264" r:id="rId14"/>
    <p:sldId id="280" r:id="rId15"/>
    <p:sldId id="285" r:id="rId16"/>
    <p:sldId id="286" r:id="rId17"/>
    <p:sldId id="288" r:id="rId18"/>
    <p:sldId id="270" r:id="rId19"/>
    <p:sldId id="287" r:id="rId20"/>
    <p:sldId id="258" r:id="rId21"/>
    <p:sldId id="259" r:id="rId22"/>
    <p:sldId id="266" r:id="rId23"/>
    <p:sldId id="271" r:id="rId24"/>
    <p:sldId id="260" r:id="rId25"/>
    <p:sldId id="261" r:id="rId26"/>
    <p:sldId id="263" r:id="rId27"/>
    <p:sldId id="262" r:id="rId28"/>
    <p:sldId id="278" r:id="rId29"/>
  </p:sldIdLst>
  <p:sldSz cx="13208000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AD2"/>
    <a:srgbClr val="FFB7B7"/>
    <a:srgbClr val="FF9393"/>
    <a:srgbClr val="FF7575"/>
    <a:srgbClr val="FFE6D2"/>
    <a:srgbClr val="ECFADC"/>
    <a:srgbClr val="E1E1E1"/>
    <a:srgbClr val="FFFFFF"/>
    <a:srgbClr val="DFF5FC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8CF59-8257-7868-7A7D-B10AD57586FB}" v="14" dt="2026-07-02T00:37:43.532"/>
    <p1510:client id="{39FB1A6B-D171-269B-1A1D-6C6F6B202C4B}" v="228" vWet="229" dt="2026-07-01T07:32:43.679"/>
    <p1510:client id="{3B87F182-39BE-444B-BBA0-9EA52B91DA38}" v="2360" dt="2026-07-01T07:58:41.870"/>
    <p1510:client id="{55426E46-1439-6B6F-0608-1A925F844119}" v="346" dt="2026-07-01T07:05:20.457"/>
    <p1510:client id="{57D49829-F53A-E27B-6FF5-5E20B3E3BD02}" v="100" dt="2026-07-01T06:33:24.521"/>
    <p1510:client id="{67CD1436-9585-61B0-CEBC-58379E311D3A}" v="76" dt="2026-07-01T06:40:46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371EC29-6DE5-B920-850C-BA01BBF699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6A2814-58A9-3F91-953F-204BE3ECFE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9ADF8-E6E0-40BE-B607-1029246F569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B0531A-67D0-BB7C-1AFF-06E555F275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ED9461-5F38-7C29-9079-E044262F7E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44E14-9401-4824-B8C1-057A91C648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82863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E317-7AC3-4FB9-974F-51B2BC4CD049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AD0E3-EC2C-4538-9AD3-A3B2CAD197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0469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ログイン・ログアウトを分ける。🔴小山　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416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54E92-A311-6D74-EA7A-3D510FDE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32A7425-EFAF-4580-97C2-BA8A27F28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DB72DA-FB9B-4BAD-CE5B-431C241E0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ログイン・ログアウトを分ける。🔴小山　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DA50D8-DB5A-4A49-D50C-1318A3D14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728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ea typeface="游ゴシック"/>
              </a:rPr>
              <a:t>メンバー検索は誤植　並び替え・絞り込みを行うのはシステム🔴小島</a:t>
            </a:r>
            <a:r>
              <a:rPr lang="ja-JP" altLang="en-US">
                <a:ea typeface="游ゴシック"/>
              </a:rPr>
              <a:t>　済</a:t>
            </a:r>
            <a:r>
              <a:rPr kumimoji="1" lang="ja-JP" altLang="en-US">
                <a:ea typeface="游ゴシック"/>
              </a:rPr>
              <a:t>　🌟メリットの記載</a:t>
            </a:r>
            <a:endParaRPr lang="en-US" altLang="ja-JP">
              <a:ea typeface="游ゴシック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210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ea typeface="游ゴシック"/>
              </a:rPr>
              <a:t>最後に表示されるのが抜けている🔴鈴木　</a:t>
            </a:r>
            <a:r>
              <a:rPr lang="ja-JP" altLang="en-US">
                <a:ea typeface="游ゴシック"/>
              </a:rPr>
              <a:t>矢印の修正をお願いします</a:t>
            </a:r>
            <a:r>
              <a:rPr kumimoji="1" lang="ja-JP" altLang="en-US">
                <a:ea typeface="游ゴシック"/>
              </a:rPr>
              <a:t>🌟メリットの記載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476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ea typeface="游ゴシック"/>
              </a:rPr>
              <a:t>🌟メリットの記載</a:t>
            </a:r>
            <a:r>
              <a:rPr lang="ja-JP" altLang="en-US">
                <a:ea typeface="游ゴシック"/>
              </a:rPr>
              <a:t>　小島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729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2</a:t>
            </a:r>
            <a:r>
              <a:rPr kumimoji="1" lang="ja-JP" altLang="en-US"/>
              <a:t>つ目の資格をシステム側に持ってくる🔴小山　済　🌟メリットの記載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349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結果を表示はシステム側で、社員側は結果を確認する</a:t>
            </a:r>
          </a:p>
          <a:p>
            <a:r>
              <a:rPr kumimoji="1" lang="ja-JP" altLang="en-US">
                <a:ea typeface="游ゴシック"/>
              </a:rPr>
              <a:t>　あと、これは</a:t>
            </a:r>
            <a:r>
              <a:rPr kumimoji="1" lang="en-US" altLang="ja-JP">
                <a:ea typeface="游ゴシック"/>
              </a:rPr>
              <a:t>3</a:t>
            </a:r>
            <a:r>
              <a:rPr kumimoji="1" lang="ja-JP" altLang="en-US">
                <a:ea typeface="游ゴシック"/>
              </a:rPr>
              <a:t>つに分けた方がいい。上長がアップロード、社員がダウンロード、社員がアップロード🔴小島</a:t>
            </a:r>
            <a:r>
              <a:rPr lang="ja-JP" altLang="en-US">
                <a:ea typeface="游ゴシック"/>
              </a:rPr>
              <a:t>　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507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FB1F-5175-4A98-598C-1BE8E4A21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EF90D9-5D92-DB89-78F9-546527B03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7CF72B-A1A0-1D2A-E677-D74998B35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結果を表示はシステム側で、社員側は結果を確認する</a:t>
            </a:r>
          </a:p>
          <a:p>
            <a:r>
              <a:rPr kumimoji="1" lang="ja-JP" altLang="en-US">
                <a:ea typeface="游ゴシック"/>
              </a:rPr>
              <a:t>　あと、これは</a:t>
            </a:r>
            <a:r>
              <a:rPr kumimoji="1" lang="en-US" altLang="ja-JP">
                <a:ea typeface="游ゴシック"/>
              </a:rPr>
              <a:t>3</a:t>
            </a:r>
            <a:r>
              <a:rPr kumimoji="1" lang="ja-JP" altLang="en-US">
                <a:ea typeface="游ゴシック"/>
              </a:rPr>
              <a:t>つに分けた方がいい。上長がアップロード、社員がダウンロード、社員がアップロード🔴小島</a:t>
            </a:r>
            <a:r>
              <a:rPr lang="ja-JP" altLang="en-US">
                <a:ea typeface="游ゴシック"/>
              </a:rPr>
              <a:t>　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9B419F-BDC6-7C70-70B5-390C83146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8041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8D952-9CCC-6D8D-B21B-8F66350E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F7E51F5-E653-A8F4-9CBF-E2CF7F95B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4B86BA0-425F-D2F6-A36D-1DCE81EFC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結果を表示はシステム側で、社員側は結果を確認する　</a:t>
            </a:r>
          </a:p>
          <a:p>
            <a:r>
              <a:rPr kumimoji="1" lang="ja-JP" altLang="en-US">
                <a:ea typeface="游ゴシック"/>
              </a:rPr>
              <a:t>　あと、これは</a:t>
            </a:r>
            <a:r>
              <a:rPr kumimoji="1" lang="en-US" altLang="ja-JP">
                <a:ea typeface="游ゴシック"/>
              </a:rPr>
              <a:t>3</a:t>
            </a:r>
            <a:r>
              <a:rPr kumimoji="1" lang="ja-JP" altLang="en-US">
                <a:ea typeface="游ゴシック"/>
              </a:rPr>
              <a:t>つに分けた方がいい。上長がアップロード、社員がダウンロード、社員がアップロード🔴小島</a:t>
            </a:r>
            <a:r>
              <a:rPr lang="ja-JP" altLang="en-US">
                <a:ea typeface="游ゴシック"/>
              </a:rPr>
              <a:t>　済　🌟メリットの記載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3A959E-EE2F-F02F-AAC6-873BB1740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24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93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ea typeface="游ゴシック"/>
              </a:rPr>
              <a:t>報告書に適用→報告書の提出、システムに登録、通知が行く、コメントを入力する、システム側でコメントが登録される、該当する社員に通知する、社員が確認できるようになる。事前課題は、上長がコメントする必要がなく、確認だけできるようにする。🔴鈴木</a:t>
            </a:r>
            <a:r>
              <a:rPr lang="ja-JP" altLang="en-US">
                <a:ea typeface="游ゴシック"/>
              </a:rPr>
              <a:t>　済（矢印の修正をお願いします）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318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9D55-F42C-A7D2-3BC9-10DE6489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E5D84B1-4949-5986-9A88-A4856B534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159A93-0C19-A9A0-6FE1-87AE6F62F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表示するのはシステムということで。登録されたら登録しました通知が管理者に行くくらいで良い。上長・社員はいらない。不備あり、不備なしもいらない。🔴小山　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847752-7E14-3959-06F6-485347960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446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ea typeface="游ゴシック"/>
              </a:rPr>
              <a:t>箱の中に動詞を一つにした方が良い。たとえば、</a:t>
            </a:r>
            <a:r>
              <a:rPr kumimoji="1" lang="en-US" altLang="ja-JP">
                <a:ea typeface="游ゴシック"/>
              </a:rPr>
              <a:t>PDF</a:t>
            </a:r>
            <a:r>
              <a:rPr kumimoji="1" lang="ja-JP" altLang="en-US">
                <a:ea typeface="游ゴシック"/>
              </a:rPr>
              <a:t>化する、受講生へメールを送信するみたいに分ける。🔴小島</a:t>
            </a:r>
            <a:r>
              <a:rPr lang="ja-JP" altLang="en-US">
                <a:ea typeface="游ゴシック"/>
              </a:rPr>
              <a:t>　済</a:t>
            </a:r>
            <a:endParaRPr kumimoji="1" lang="ja-JP" altLang="en-US"/>
          </a:p>
          <a:p>
            <a:r>
              <a:rPr kumimoji="1" lang="ja-JP" altLang="en-US"/>
              <a:t>　あと、遷移と、入力。そうなると遷移はシステム側に行く。あと、下に手間が省ける旨も書いておく。　🌟メリットの記載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21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4285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🌟メリットの記載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534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パスワードの再設定は管理者へのお問い合わせ方式にする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AD0E3-EC2C-4538-9AD3-A3B2CAD19766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13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621191"/>
            <a:ext cx="112268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1000" y="5202944"/>
            <a:ext cx="99060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39D08-2F2B-44CD-8EE4-62CA9F231702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1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F821-1FB8-4219-8FA1-7B20CA6B71F4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13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172" y="2469624"/>
            <a:ext cx="11391900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1172" y="6629226"/>
            <a:ext cx="11391900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82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82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9D83-5BF7-4639-B891-48C522AC24BF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720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8050" y="2637014"/>
            <a:ext cx="561340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6550" y="2637014"/>
            <a:ext cx="561340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C982-5AD7-4A36-B907-D5720BB9EFCA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79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527405"/>
            <a:ext cx="11391900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772" y="2428347"/>
            <a:ext cx="5587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772" y="3618442"/>
            <a:ext cx="5587602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6551" y="2428347"/>
            <a:ext cx="5615120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6551" y="3618442"/>
            <a:ext cx="5615120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D04A-A1D8-488B-BFB5-58AF85FC372C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11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3E4D-D4FC-4E11-867C-C10FE1BE9F23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916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7F19-C62E-4197-9103-5B27566C3186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66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5120" y="1426283"/>
            <a:ext cx="6686550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2773-1B09-4306-9002-8E50350B7401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398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5120" y="1426283"/>
            <a:ext cx="6686550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9B1E7-2B1D-4E7B-AA0F-51ECFE0846C5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92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F61E-FA77-41D3-9735-00F70378F428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275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51976" y="527403"/>
            <a:ext cx="2847975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8051" y="527403"/>
            <a:ext cx="8378825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0559-1B36-414D-800E-200BEF12E974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71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8050" y="527405"/>
            <a:ext cx="11391900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050" y="2637014"/>
            <a:ext cx="11391900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80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BA1F1-73EA-4BDF-A67C-5873518FC540}" type="datetime1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5150" y="9181397"/>
            <a:ext cx="4457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81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77697-2A9E-45BD-927F-6D4D9940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17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kumimoji="1"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kumimoji="1"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98B38-7F93-1109-DDE5-F99F5AFB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B494F2F-6635-7BDA-CD12-ABBBC827218D}"/>
              </a:ext>
            </a:extLst>
          </p:cNvPr>
          <p:cNvSpPr/>
          <p:nvPr/>
        </p:nvSpPr>
        <p:spPr>
          <a:xfrm>
            <a:off x="1407659" y="1800636"/>
            <a:ext cx="10392682" cy="1828799"/>
          </a:xfrm>
          <a:prstGeom prst="roundRect">
            <a:avLst/>
          </a:prstGeom>
          <a:solidFill>
            <a:srgbClr val="FBFA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E077504-3376-8889-056D-DB5CFB2E1A32}"/>
              </a:ext>
            </a:extLst>
          </p:cNvPr>
          <p:cNvSpPr/>
          <p:nvPr/>
        </p:nvSpPr>
        <p:spPr>
          <a:xfrm>
            <a:off x="1407659" y="3830032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3046633-D952-B15D-3234-607DCD45A585}"/>
              </a:ext>
            </a:extLst>
          </p:cNvPr>
          <p:cNvSpPr txBox="1"/>
          <p:nvPr/>
        </p:nvSpPr>
        <p:spPr>
          <a:xfrm>
            <a:off x="1509485" y="2484202"/>
            <a:ext cx="1210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01633BA-EFB5-A1C6-3838-723F5A0A1D3D}"/>
              </a:ext>
            </a:extLst>
          </p:cNvPr>
          <p:cNvSpPr txBox="1"/>
          <p:nvPr/>
        </p:nvSpPr>
        <p:spPr>
          <a:xfrm>
            <a:off x="1407659" y="4513599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A2B5719-13DC-4745-5F27-DF97DC8B9B84}"/>
              </a:ext>
            </a:extLst>
          </p:cNvPr>
          <p:cNvSpPr/>
          <p:nvPr/>
        </p:nvSpPr>
        <p:spPr>
          <a:xfrm>
            <a:off x="3007214" y="2148978"/>
            <a:ext cx="170570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ログインに必要な情報を入力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C564B9E-FBE1-7380-2B88-F3B2530A6B80}"/>
              </a:ext>
            </a:extLst>
          </p:cNvPr>
          <p:cNvSpPr txBox="1"/>
          <p:nvPr/>
        </p:nvSpPr>
        <p:spPr>
          <a:xfrm>
            <a:off x="359114" y="270690"/>
            <a:ext cx="6433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ログイン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344782-4FFC-6A3F-1EA2-074AE260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</a:t>
            </a:fld>
            <a:endParaRPr kumimoji="1" lang="ja-JP" altLang="en-US"/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AE2A7A5F-E27C-1CDF-279F-7F8A0EBC230E}"/>
              </a:ext>
            </a:extLst>
          </p:cNvPr>
          <p:cNvCxnSpPr>
            <a:cxnSpLocks/>
            <a:stCxn id="15" idx="3"/>
            <a:endCxn id="2" idx="0"/>
          </p:cNvCxnSpPr>
          <p:nvPr/>
        </p:nvCxnSpPr>
        <p:spPr>
          <a:xfrm>
            <a:off x="4712920" y="2715035"/>
            <a:ext cx="794986" cy="141235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1B2EDFF-D6AC-5FB4-2EDE-AC3BAE5AAA82}"/>
              </a:ext>
            </a:extLst>
          </p:cNvPr>
          <p:cNvSpPr txBox="1"/>
          <p:nvPr/>
        </p:nvSpPr>
        <p:spPr>
          <a:xfrm>
            <a:off x="6508122" y="1359253"/>
            <a:ext cx="5633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>
                <a:latin typeface="Noto Sans JP" panose="020B0200000000000000" pitchFamily="50" charset="-128"/>
                <a:ea typeface="Noto Sans JP" panose="020B0200000000000000" pitchFamily="50" charset="-128"/>
              </a:rPr>
              <a:t>※</a:t>
            </a:r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ユーザーとは、社員・上長・管理者の総称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0947989-8A02-A052-97E1-F18810F3D4CA}"/>
              </a:ext>
            </a:extLst>
          </p:cNvPr>
          <p:cNvSpPr/>
          <p:nvPr/>
        </p:nvSpPr>
        <p:spPr>
          <a:xfrm>
            <a:off x="4655053" y="4127389"/>
            <a:ext cx="170570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該当ユーザか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否か判断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98C07F3-70E0-0079-280D-7AB4FAAB1655}"/>
              </a:ext>
            </a:extLst>
          </p:cNvPr>
          <p:cNvSpPr/>
          <p:nvPr/>
        </p:nvSpPr>
        <p:spPr>
          <a:xfrm>
            <a:off x="7588677" y="4127389"/>
            <a:ext cx="150026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メニュー画面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に遷移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B5A0252C-35BB-4548-36CF-5169F03CDA0B}"/>
              </a:ext>
            </a:extLst>
          </p:cNvPr>
          <p:cNvCxnSpPr>
            <a:cxnSpLocks/>
            <a:stCxn id="2" idx="1"/>
            <a:endCxn id="15" idx="2"/>
          </p:cNvCxnSpPr>
          <p:nvPr/>
        </p:nvCxnSpPr>
        <p:spPr>
          <a:xfrm rot="10800000">
            <a:off x="3860067" y="3281092"/>
            <a:ext cx="794986" cy="141235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42F30C6-2334-E300-C47B-FFD197188098}"/>
              </a:ext>
            </a:extLst>
          </p:cNvPr>
          <p:cNvSpPr/>
          <p:nvPr/>
        </p:nvSpPr>
        <p:spPr>
          <a:xfrm>
            <a:off x="6508122" y="4846618"/>
            <a:ext cx="990881" cy="387233"/>
          </a:xfrm>
          <a:prstGeom prst="rect">
            <a:avLst/>
          </a:prstGeom>
          <a:solidFill>
            <a:srgbClr val="FBFAD2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04413E8-7804-5578-E797-8206FEDDB5C9}"/>
              </a:ext>
            </a:extLst>
          </p:cNvPr>
          <p:cNvSpPr/>
          <p:nvPr/>
        </p:nvSpPr>
        <p:spPr>
          <a:xfrm>
            <a:off x="3089907" y="3977777"/>
            <a:ext cx="990881" cy="387233"/>
          </a:xfrm>
          <a:prstGeom prst="rect">
            <a:avLst/>
          </a:prstGeom>
          <a:solidFill>
            <a:srgbClr val="FBFAD2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false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7DDE850C-BD57-E70C-45CA-A5B53CD723E6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6360759" y="4693446"/>
            <a:ext cx="122791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8815F8D-957E-C0B0-1256-E680365F744B}"/>
              </a:ext>
            </a:extLst>
          </p:cNvPr>
          <p:cNvSpPr/>
          <p:nvPr/>
        </p:nvSpPr>
        <p:spPr>
          <a:xfrm>
            <a:off x="7588677" y="2214292"/>
            <a:ext cx="150026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メニュー画面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5F1B3EC0-93FC-FEF1-A826-7E4587976C7B}"/>
              </a:ext>
            </a:extLst>
          </p:cNvPr>
          <p:cNvCxnSpPr>
            <a:cxnSpLocks/>
            <a:stCxn id="6" idx="0"/>
            <a:endCxn id="28" idx="2"/>
          </p:cNvCxnSpPr>
          <p:nvPr/>
        </p:nvCxnSpPr>
        <p:spPr>
          <a:xfrm flipV="1">
            <a:off x="8338809" y="3346406"/>
            <a:ext cx="0" cy="7809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763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53D40-5E24-98CE-0F80-61B3B15C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C066797-8470-C7B8-4F2E-55BEF5315428}"/>
              </a:ext>
            </a:extLst>
          </p:cNvPr>
          <p:cNvSpPr/>
          <p:nvPr/>
        </p:nvSpPr>
        <p:spPr>
          <a:xfrm>
            <a:off x="1407659" y="1800636"/>
            <a:ext cx="10392682" cy="1828799"/>
          </a:xfrm>
          <a:prstGeom prst="roundRect">
            <a:avLst/>
          </a:prstGeom>
          <a:solidFill>
            <a:srgbClr val="FBFA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FF44C64-5345-55A6-A023-8815BCB9BC6E}"/>
              </a:ext>
            </a:extLst>
          </p:cNvPr>
          <p:cNvSpPr/>
          <p:nvPr/>
        </p:nvSpPr>
        <p:spPr>
          <a:xfrm>
            <a:off x="1407659" y="3830032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491259F-3F4F-5536-9F18-95BC1ED4CDC4}"/>
              </a:ext>
            </a:extLst>
          </p:cNvPr>
          <p:cNvSpPr txBox="1"/>
          <p:nvPr/>
        </p:nvSpPr>
        <p:spPr>
          <a:xfrm>
            <a:off x="1509485" y="2484202"/>
            <a:ext cx="1210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36F4D9-F994-B5D7-A87B-C70C13569168}"/>
              </a:ext>
            </a:extLst>
          </p:cNvPr>
          <p:cNvSpPr txBox="1"/>
          <p:nvPr/>
        </p:nvSpPr>
        <p:spPr>
          <a:xfrm>
            <a:off x="1407659" y="4513599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493190F-A51C-1711-B1D6-9D5885A6692A}"/>
              </a:ext>
            </a:extLst>
          </p:cNvPr>
          <p:cNvSpPr txBox="1"/>
          <p:nvPr/>
        </p:nvSpPr>
        <p:spPr>
          <a:xfrm>
            <a:off x="359114" y="270690"/>
            <a:ext cx="6433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ログアウト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7EF473-2F3D-8F6B-C3FB-9B014830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66FCB93-5510-AC9B-5E4E-F7970D8784FB}"/>
              </a:ext>
            </a:extLst>
          </p:cNvPr>
          <p:cNvSpPr txBox="1"/>
          <p:nvPr/>
        </p:nvSpPr>
        <p:spPr>
          <a:xfrm>
            <a:off x="6508122" y="1359253"/>
            <a:ext cx="5633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>
                <a:latin typeface="Noto Sans JP" panose="020B0200000000000000" pitchFamily="50" charset="-128"/>
                <a:ea typeface="Noto Sans JP" panose="020B0200000000000000" pitchFamily="50" charset="-128"/>
              </a:rPr>
              <a:t>※</a:t>
            </a:r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ユーザーとは、社員・上長・管理者の総称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A3C1313-74C7-613D-4CD7-24ECFA714A36}"/>
              </a:ext>
            </a:extLst>
          </p:cNvPr>
          <p:cNvSpPr/>
          <p:nvPr/>
        </p:nvSpPr>
        <p:spPr>
          <a:xfrm>
            <a:off x="3170787" y="2155270"/>
            <a:ext cx="150026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ログアウトを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5FBE476-06BF-F118-551B-3E81DB2DE9AC}"/>
              </a:ext>
            </a:extLst>
          </p:cNvPr>
          <p:cNvSpPr/>
          <p:nvPr/>
        </p:nvSpPr>
        <p:spPr>
          <a:xfrm>
            <a:off x="3170787" y="4161712"/>
            <a:ext cx="1534270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セッションを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C32DA4F-5ED0-0445-5D02-D72EC7010305}"/>
              </a:ext>
            </a:extLst>
          </p:cNvPr>
          <p:cNvSpPr/>
          <p:nvPr/>
        </p:nvSpPr>
        <p:spPr>
          <a:xfrm>
            <a:off x="5421669" y="4161712"/>
            <a:ext cx="150026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ログアウト画面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に遷移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27EBBA57-5F75-220B-427D-3096D9465C4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705057" y="4727769"/>
            <a:ext cx="71661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77EFE91-8D6D-21F6-5A10-485758CC4C2B}"/>
              </a:ext>
            </a:extLst>
          </p:cNvPr>
          <p:cNvSpPr/>
          <p:nvPr/>
        </p:nvSpPr>
        <p:spPr>
          <a:xfrm>
            <a:off x="5404666" y="2148978"/>
            <a:ext cx="150026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ログアウト画面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89254641-8BDF-21EE-616F-B893077D1940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6154798" y="3281092"/>
            <a:ext cx="17002" cy="8806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21BAD99-13CF-0FE1-B896-D52958227C3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3920919" y="3287384"/>
            <a:ext cx="17003" cy="87432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16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D8C0-3D61-EF4E-51C5-103BD8D2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DB073CE-8A53-9B4B-D11A-A2EC8840BBAF}"/>
              </a:ext>
            </a:extLst>
          </p:cNvPr>
          <p:cNvSpPr/>
          <p:nvPr/>
        </p:nvSpPr>
        <p:spPr>
          <a:xfrm>
            <a:off x="1407659" y="1800636"/>
            <a:ext cx="10392682" cy="1828799"/>
          </a:xfrm>
          <a:prstGeom prst="roundRect">
            <a:avLst/>
          </a:prstGeom>
          <a:solidFill>
            <a:srgbClr val="FBFA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07A84B3-0866-9693-3199-5BC24A489B95}"/>
              </a:ext>
            </a:extLst>
          </p:cNvPr>
          <p:cNvSpPr/>
          <p:nvPr/>
        </p:nvSpPr>
        <p:spPr>
          <a:xfrm>
            <a:off x="1407659" y="3830032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A7D7F1-5E57-1A2F-DDE0-F61AE84A950E}"/>
              </a:ext>
            </a:extLst>
          </p:cNvPr>
          <p:cNvSpPr txBox="1"/>
          <p:nvPr/>
        </p:nvSpPr>
        <p:spPr>
          <a:xfrm>
            <a:off x="1509485" y="2484202"/>
            <a:ext cx="1210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830634-E3E7-6B91-4639-1C61C67D9FD1}"/>
              </a:ext>
            </a:extLst>
          </p:cNvPr>
          <p:cNvSpPr txBox="1"/>
          <p:nvPr/>
        </p:nvSpPr>
        <p:spPr>
          <a:xfrm>
            <a:off x="1407659" y="4513599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EC50B6E-A19A-4321-62CF-4DBFDB527339}"/>
              </a:ext>
            </a:extLst>
          </p:cNvPr>
          <p:cNvSpPr/>
          <p:nvPr/>
        </p:nvSpPr>
        <p:spPr>
          <a:xfrm>
            <a:off x="3007214" y="2148978"/>
            <a:ext cx="146028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ボタンを選択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722924C-837F-7C1E-0BF6-063AFCC41BA8}"/>
              </a:ext>
            </a:extLst>
          </p:cNvPr>
          <p:cNvSpPr txBox="1"/>
          <p:nvPr/>
        </p:nvSpPr>
        <p:spPr>
          <a:xfrm>
            <a:off x="359114" y="270690"/>
            <a:ext cx="6433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研修閲覧・検索・並び替え・絞り込み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AE2EDF6-9631-AC3F-BAEA-F82A1F8E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FAB050-BB56-E551-B489-C24D7F515005}"/>
              </a:ext>
            </a:extLst>
          </p:cNvPr>
          <p:cNvSpPr/>
          <p:nvPr/>
        </p:nvSpPr>
        <p:spPr>
          <a:xfrm>
            <a:off x="5097372" y="2148978"/>
            <a:ext cx="194688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研修ー覧の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画面で検索。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61FFFF-D8C0-C828-2E5E-68EA1EDFEB59}"/>
              </a:ext>
            </a:extLst>
          </p:cNvPr>
          <p:cNvSpPr/>
          <p:nvPr/>
        </p:nvSpPr>
        <p:spPr>
          <a:xfrm>
            <a:off x="9767571" y="4149815"/>
            <a:ext cx="146028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結果を表示</a:t>
            </a:r>
            <a:endParaRPr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29DBB0E-A20A-EA78-E936-106BF170A7D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8772104" y="4713654"/>
            <a:ext cx="995467" cy="221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8CD15DFB-0D99-78DB-E103-59737A60AFE7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7044257" y="2715035"/>
            <a:ext cx="539513" cy="1432562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93FD03E-E08C-0962-9C7B-F131E064AFA5}"/>
              </a:ext>
            </a:extLst>
          </p:cNvPr>
          <p:cNvSpPr txBox="1"/>
          <p:nvPr/>
        </p:nvSpPr>
        <p:spPr>
          <a:xfrm>
            <a:off x="6508122" y="1359253"/>
            <a:ext cx="5633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>
                <a:latin typeface="Noto Sans JP" panose="020B0200000000000000" pitchFamily="50" charset="-128"/>
                <a:ea typeface="Noto Sans JP" panose="020B0200000000000000" pitchFamily="50" charset="-128"/>
              </a:rPr>
              <a:t>※</a:t>
            </a:r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ユーザーとは、社員・上長・管理者の総称</a:t>
            </a:r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3B24A869-E5CC-1E05-5A96-703249520FB2}"/>
              </a:ext>
            </a:extLst>
          </p:cNvPr>
          <p:cNvSpPr/>
          <p:nvPr/>
        </p:nvSpPr>
        <p:spPr>
          <a:xfrm>
            <a:off x="6395435" y="4147597"/>
            <a:ext cx="2376669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sz="1400">
                <a:solidFill>
                  <a:schemeClr val="tx1"/>
                </a:solidFill>
                <a:latin typeface="Aptos"/>
                <a:ea typeface="Noto Sans JP"/>
              </a:rPr>
              <a:t>並び替え・絞り込みを行う</a:t>
            </a:r>
            <a:r>
              <a:rPr kumimoji="1" lang="en-US" altLang="ja-JP" sz="1400">
                <a:solidFill>
                  <a:schemeClr val="tx1"/>
                </a:solidFill>
                <a:ea typeface="Noto Sans JP"/>
              </a:rPr>
              <a:t>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正方形/長方形 14">
            <a:extLst>
              <a:ext uri="{FF2B5EF4-FFF2-40B4-BE49-F238E27FC236}">
                <a16:creationId xmlns:a16="http://schemas.microsoft.com/office/drawing/2014/main" id="{F45709C0-D988-AC7B-1501-5A5D5F0402CB}"/>
              </a:ext>
            </a:extLst>
          </p:cNvPr>
          <p:cNvSpPr/>
          <p:nvPr/>
        </p:nvSpPr>
        <p:spPr>
          <a:xfrm>
            <a:off x="9767571" y="2285268"/>
            <a:ext cx="146028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</a:p>
        </p:txBody>
      </p:sp>
      <p:cxnSp>
        <p:nvCxnSpPr>
          <p:cNvPr id="12" name="直線矢印コネクタ 25">
            <a:extLst>
              <a:ext uri="{FF2B5EF4-FFF2-40B4-BE49-F238E27FC236}">
                <a16:creationId xmlns:a16="http://schemas.microsoft.com/office/drawing/2014/main" id="{3ECF2790-9C8E-97A1-829C-2D34E6C72EF8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4467499" y="2715035"/>
            <a:ext cx="62987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842894C-DC54-AD61-43EB-B5449CB93E90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10497714" y="3417382"/>
            <a:ext cx="0" cy="7324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4F482D-E0F7-E026-05A1-8A8AF60A8870}"/>
              </a:ext>
            </a:extLst>
          </p:cNvPr>
          <p:cNvSpPr/>
          <p:nvPr/>
        </p:nvSpPr>
        <p:spPr>
          <a:xfrm>
            <a:off x="786535" y="8105364"/>
            <a:ext cx="11634930" cy="10497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latin typeface="Noto Sans JP" panose="020B0200000000000000" pitchFamily="50" charset="-128"/>
                <a:ea typeface="Noto Sans JP" panose="020B0200000000000000" pitchFamily="50" charset="-128"/>
              </a:rPr>
              <a:t>メリット：旧システムはExcelファイルを使用して、確認を行っていたが、一つのシステム内で完結させることができる。</a:t>
            </a:r>
            <a:endParaRPr lang="ja-JP" sz="16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1640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9E1B-73A9-02D6-0851-7B35D502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D634B25-736B-0882-406F-05D12B3D6D2A}"/>
              </a:ext>
            </a:extLst>
          </p:cNvPr>
          <p:cNvSpPr/>
          <p:nvPr/>
        </p:nvSpPr>
        <p:spPr>
          <a:xfrm>
            <a:off x="1407659" y="1800636"/>
            <a:ext cx="10392682" cy="1828799"/>
          </a:xfrm>
          <a:prstGeom prst="roundRect">
            <a:avLst/>
          </a:prstGeom>
          <a:solidFill>
            <a:srgbClr val="FBFA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496F34C-87DB-6A53-B758-6265BFE5A2EB}"/>
              </a:ext>
            </a:extLst>
          </p:cNvPr>
          <p:cNvSpPr/>
          <p:nvPr/>
        </p:nvSpPr>
        <p:spPr>
          <a:xfrm>
            <a:off x="1407659" y="3830032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92147F1-112C-67AA-27E6-3B3CB0A0C037}"/>
              </a:ext>
            </a:extLst>
          </p:cNvPr>
          <p:cNvSpPr txBox="1"/>
          <p:nvPr/>
        </p:nvSpPr>
        <p:spPr>
          <a:xfrm>
            <a:off x="1509485" y="2484202"/>
            <a:ext cx="1210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69F35D-6CD3-24A4-CBAF-C4BCC2C0DE10}"/>
              </a:ext>
            </a:extLst>
          </p:cNvPr>
          <p:cNvSpPr txBox="1"/>
          <p:nvPr/>
        </p:nvSpPr>
        <p:spPr>
          <a:xfrm>
            <a:off x="1407659" y="4513599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53509CF-9FE0-CCE6-B53E-10979DC72BAB}"/>
              </a:ext>
            </a:extLst>
          </p:cNvPr>
          <p:cNvSpPr/>
          <p:nvPr/>
        </p:nvSpPr>
        <p:spPr>
          <a:xfrm>
            <a:off x="3007214" y="2148978"/>
            <a:ext cx="146028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入力フォームで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問い合わせを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送信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0B5194D-9A72-C9C2-6330-6356BC810698}"/>
              </a:ext>
            </a:extLst>
          </p:cNvPr>
          <p:cNvSpPr txBox="1"/>
          <p:nvPr/>
        </p:nvSpPr>
        <p:spPr>
          <a:xfrm>
            <a:off x="359114" y="270690"/>
            <a:ext cx="6433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問い合わせ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8B423C-555B-099C-7A71-7070269E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38AFE3E-027F-40A6-D93A-205F8D5731DC}"/>
              </a:ext>
            </a:extLst>
          </p:cNvPr>
          <p:cNvSpPr/>
          <p:nvPr/>
        </p:nvSpPr>
        <p:spPr>
          <a:xfrm>
            <a:off x="5093611" y="2148978"/>
            <a:ext cx="194688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お知らせに追加された返信等が確認可能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6B4356A-6D82-7D29-30C4-7E97FC3203AD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4467499" y="2715035"/>
            <a:ext cx="62611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90E3C69-B375-EF0D-2E2B-DC7CCDEEE4EE}"/>
              </a:ext>
            </a:extLst>
          </p:cNvPr>
          <p:cNvSpPr txBox="1"/>
          <p:nvPr/>
        </p:nvSpPr>
        <p:spPr>
          <a:xfrm>
            <a:off x="6508122" y="1359253"/>
            <a:ext cx="5633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>
                <a:latin typeface="Noto Sans JP" panose="020B0200000000000000" pitchFamily="50" charset="-128"/>
                <a:ea typeface="Noto Sans JP" panose="020B0200000000000000" pitchFamily="50" charset="-128"/>
              </a:rPr>
              <a:t>※</a:t>
            </a:r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ユーザーとは、社員・上長・管理者の総称</a:t>
            </a:r>
          </a:p>
        </p:txBody>
      </p:sp>
    </p:spTree>
    <p:extLst>
      <p:ext uri="{BB962C8B-B14F-4D97-AF65-F5344CB8AC3E}">
        <p14:creationId xmlns:p14="http://schemas.microsoft.com/office/powerpoint/2010/main" val="396198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9997-CFA4-660F-5CD2-B9E9C3A0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28CFA7E-BF3E-8702-32A2-82F42B7E55F0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9A84652-9C6E-D291-18D8-CC3A0506FD5B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BC30E17-82E2-ECAD-01F2-F37409F12A75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7FAA7D7-6EA7-76A9-1D86-505A5CC816FB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D9F15E-832C-8D11-C799-7D1301F72826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D6D951B-F088-B451-B00A-E3E194EDE3B0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94FABF9-331D-D6AE-D18D-96D07EB57AD3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F75AA5F-61F4-B2AC-1928-771C065FFFDF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BF8AE72-F975-8796-784A-9A7FFA9028AC}"/>
              </a:ext>
            </a:extLst>
          </p:cNvPr>
          <p:cNvSpPr/>
          <p:nvPr/>
        </p:nvSpPr>
        <p:spPr>
          <a:xfrm>
            <a:off x="2994149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マイページを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C9A2440-5BE7-9B46-442D-5CBDB7F40CBC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3825347" y="2474963"/>
            <a:ext cx="0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78969AD-D902-47ED-D594-6DEEE189ACB3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マイページ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A41A67-FFC7-6937-F6F2-32D8EA4E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0474DA4-7626-AC25-AB4E-4C1CEE25C106}"/>
              </a:ext>
            </a:extLst>
          </p:cNvPr>
          <p:cNvSpPr/>
          <p:nvPr/>
        </p:nvSpPr>
        <p:spPr>
          <a:xfrm>
            <a:off x="2994149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条件に合うユーザ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の詳細情報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を抽出する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5D90CF-E4B4-6CB0-2061-E6C08F4D9330}"/>
              </a:ext>
            </a:extLst>
          </p:cNvPr>
          <p:cNvSpPr/>
          <p:nvPr/>
        </p:nvSpPr>
        <p:spPr>
          <a:xfrm>
            <a:off x="5233234" y="7431037"/>
            <a:ext cx="197223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結果を表示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（ユーザの個人情報・研修受講状況など）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AE1E336-01D2-D65A-E818-4E50FFEF77A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656544" y="7997094"/>
            <a:ext cx="57669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991D42A-7090-5378-DF74-9ABCC059BD5D}"/>
              </a:ext>
            </a:extLst>
          </p:cNvPr>
          <p:cNvSpPr/>
          <p:nvPr/>
        </p:nvSpPr>
        <p:spPr>
          <a:xfrm>
            <a:off x="5198352" y="1342849"/>
            <a:ext cx="197223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87CEC590-1324-183F-97F0-C9E7E5D022E5}"/>
              </a:ext>
            </a:extLst>
          </p:cNvPr>
          <p:cNvCxnSpPr>
            <a:cxnSpLocks/>
            <a:stCxn id="7" idx="0"/>
            <a:endCxn id="20" idx="2"/>
          </p:cNvCxnSpPr>
          <p:nvPr/>
        </p:nvCxnSpPr>
        <p:spPr>
          <a:xfrm flipH="1" flipV="1">
            <a:off x="6184470" y="2474963"/>
            <a:ext cx="34882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40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8DB1-74C0-93F0-D7C9-89475DF9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A8AD9CB-C980-F026-8108-6FF39201EA4B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9DBA59C-2811-5071-F5B8-242965B9EE57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27996A7-0579-308D-3CE4-AA3AB456F41E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126308A-6162-5380-EB66-8B03DE9A5BCB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1B511E-B247-1114-6322-2F9890ABF3C1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D9B7AAD-2F4A-786C-6CF9-216BD9E5594C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2A03AE5-758C-7712-EA2B-5C4BFB01C921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8AE0F34-5FE1-33F1-31B4-2E1BBA907301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712BAB6-C7B7-DB11-80AA-330C12BE392C}"/>
              </a:ext>
            </a:extLst>
          </p:cNvPr>
          <p:cNvSpPr/>
          <p:nvPr/>
        </p:nvSpPr>
        <p:spPr>
          <a:xfrm>
            <a:off x="2994150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カレンダーの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日付を選択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AD729EB-34DC-4805-F454-E5D0159A21B8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3825348" y="2474963"/>
            <a:ext cx="0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76ACEAA-CCE5-B4D4-216E-25F1D25E0265}"/>
              </a:ext>
            </a:extLst>
          </p:cNvPr>
          <p:cNvSpPr txBox="1"/>
          <p:nvPr/>
        </p:nvSpPr>
        <p:spPr>
          <a:xfrm>
            <a:off x="359114" y="270690"/>
            <a:ext cx="5845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カレンダー・カレンダー詳細表示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777FDD5-F22E-691F-D47C-E11E2DB7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141587E-67E3-71FA-3DF4-F3B074355544}"/>
              </a:ext>
            </a:extLst>
          </p:cNvPr>
          <p:cNvSpPr/>
          <p:nvPr/>
        </p:nvSpPr>
        <p:spPr>
          <a:xfrm>
            <a:off x="2994150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その日に登録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されている研修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の詳細を表示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" name="コネクタ: カギ線 3">
            <a:extLst>
              <a:ext uri="{FF2B5EF4-FFF2-40B4-BE49-F238E27FC236}">
                <a16:creationId xmlns:a16="http://schemas.microsoft.com/office/drawing/2014/main" id="{CA2078D1-B512-E3D2-8318-60AB3B904133}"/>
              </a:ext>
            </a:extLst>
          </p:cNvPr>
          <p:cNvCxnSpPr>
            <a:cxnSpLocks/>
            <a:stCxn id="5" idx="3"/>
            <a:endCxn id="17" idx="2"/>
          </p:cNvCxnSpPr>
          <p:nvPr/>
        </p:nvCxnSpPr>
        <p:spPr>
          <a:xfrm flipV="1">
            <a:off x="4656545" y="2474963"/>
            <a:ext cx="1578450" cy="5522131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2B1AFBD-0B0D-E7D4-DC06-E9EABBE32F4A}"/>
              </a:ext>
            </a:extLst>
          </p:cNvPr>
          <p:cNvSpPr/>
          <p:nvPr/>
        </p:nvSpPr>
        <p:spPr>
          <a:xfrm>
            <a:off x="5403797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053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E47A-5385-300B-CEBA-45EABF6A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A6B1507-0AEE-ED4C-0C44-5930650B16CF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3DA887E-4E65-AF9D-EFBC-F9BF9B9D2E94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DDDBACB-3289-E9C0-D300-1DDEF94D14E8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B08DA95-C468-E91E-D4F6-3A289D6F3E1A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A53FBD-00FE-3B79-0F68-8069694D0B49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4508D1-EB2D-9DDA-16F9-208A4294F5EC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C6FEC38-9E58-8DCC-1E55-2C181572CC88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68A14F2-0A88-6107-CF51-0836EE948DB9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8F815B4-AED0-1869-903B-67CFD669F9DD}"/>
              </a:ext>
            </a:extLst>
          </p:cNvPr>
          <p:cNvSpPr/>
          <p:nvPr/>
        </p:nvSpPr>
        <p:spPr>
          <a:xfrm>
            <a:off x="2994150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研修申請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EECDC43-3BA9-B4AC-67C0-B3D6D6C29EE4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 flipH="1">
            <a:off x="3820286" y="2474963"/>
            <a:ext cx="5062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A43E3E29-3384-1CAB-7F73-09395D7D298F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4651483" y="2474963"/>
            <a:ext cx="1127088" cy="5522131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96E914-2D02-C466-A843-3044E0F80EA9}"/>
              </a:ext>
            </a:extLst>
          </p:cNvPr>
          <p:cNvSpPr/>
          <p:nvPr/>
        </p:nvSpPr>
        <p:spPr>
          <a:xfrm>
            <a:off x="1420668" y="9039957"/>
            <a:ext cx="10370890" cy="8004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メリット：</a:t>
            </a:r>
            <a:r>
              <a:rPr lang="en-US" altLang="ja-JP" sz="1600" b="0" i="0" u="none" strike="noStrike" baseline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lang="ja-JP" altLang="en-US" sz="1600" b="0" i="0" u="none" strike="noStrike" baseline="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から研修を探す手間、上長を経由した研修登録・編集・削除の手間がなくなる。</a:t>
            </a:r>
            <a:endParaRPr lang="en-US" sz="16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BA0E6D2-4759-EBC5-B4C5-E280F79FF5E5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研修管理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B6F61E4-EA7E-B674-34C2-9C1547C5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43DF53E-0F30-D854-D909-8285BD55908A}"/>
              </a:ext>
            </a:extLst>
          </p:cNvPr>
          <p:cNvSpPr/>
          <p:nvPr/>
        </p:nvSpPr>
        <p:spPr>
          <a:xfrm>
            <a:off x="4947373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研修予約確認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から確認可能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A6B3AE5-B4BF-DBC7-819E-5FC5D2F0563F}"/>
              </a:ext>
            </a:extLst>
          </p:cNvPr>
          <p:cNvSpPr/>
          <p:nvPr/>
        </p:nvSpPr>
        <p:spPr>
          <a:xfrm>
            <a:off x="2989088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申請内容を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0A706B-355B-7A2B-48E7-10E36FDF947F}"/>
              </a:ext>
            </a:extLst>
          </p:cNvPr>
          <p:cNvSpPr/>
          <p:nvPr/>
        </p:nvSpPr>
        <p:spPr>
          <a:xfrm>
            <a:off x="7948559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研修予約の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キャンセル可能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9211745-F5A4-4518-D45F-DB6EA8546075}"/>
              </a:ext>
            </a:extLst>
          </p:cNvPr>
          <p:cNvSpPr/>
          <p:nvPr/>
        </p:nvSpPr>
        <p:spPr>
          <a:xfrm>
            <a:off x="7948559" y="738979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予約している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研修を削除する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79BD244-1D75-56AF-68C9-2F7846BFECE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609768" y="1908906"/>
            <a:ext cx="133879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F1D23D09-B38F-AAE6-CDC9-D9EB4FE8EBF5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8779757" y="2474963"/>
            <a:ext cx="0" cy="49148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FF2AF1C-27CC-B49E-AF34-D96D28DF738A}"/>
              </a:ext>
            </a:extLst>
          </p:cNvPr>
          <p:cNvSpPr/>
          <p:nvPr/>
        </p:nvSpPr>
        <p:spPr>
          <a:xfrm>
            <a:off x="6721841" y="1110868"/>
            <a:ext cx="1106549" cy="566057"/>
          </a:xfrm>
          <a:prstGeom prst="rect">
            <a:avLst/>
          </a:prstGeom>
          <a:solidFill>
            <a:srgbClr val="FBFAD2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キャンセルしたい場合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正方形/長方形 3">
            <a:extLst>
              <a:ext uri="{FF2B5EF4-FFF2-40B4-BE49-F238E27FC236}">
                <a16:creationId xmlns:a16="http://schemas.microsoft.com/office/drawing/2014/main" id="{EDC12764-854A-4342-3DFB-38AE91C59636}"/>
              </a:ext>
            </a:extLst>
          </p:cNvPr>
          <p:cNvSpPr/>
          <p:nvPr/>
        </p:nvSpPr>
        <p:spPr>
          <a:xfrm>
            <a:off x="9978344" y="740055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削除結果表示する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7" name="正方形/長方形 3">
            <a:extLst>
              <a:ext uri="{FF2B5EF4-FFF2-40B4-BE49-F238E27FC236}">
                <a16:creationId xmlns:a16="http://schemas.microsoft.com/office/drawing/2014/main" id="{6796861B-031C-36A0-A01A-0F2EC68723EC}"/>
              </a:ext>
            </a:extLst>
          </p:cNvPr>
          <p:cNvSpPr/>
          <p:nvPr/>
        </p:nvSpPr>
        <p:spPr>
          <a:xfrm>
            <a:off x="9978641" y="1343775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キャンセルされたことを確認できる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0" name="直線矢印コネクタ 21">
            <a:extLst>
              <a:ext uri="{FF2B5EF4-FFF2-40B4-BE49-F238E27FC236}">
                <a16:creationId xmlns:a16="http://schemas.microsoft.com/office/drawing/2014/main" id="{EFD13B5E-7A32-1DB9-5FF8-C5B505C4E1D3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9610954" y="7955856"/>
            <a:ext cx="367390" cy="1075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矢印コネクタ 21">
            <a:extLst>
              <a:ext uri="{FF2B5EF4-FFF2-40B4-BE49-F238E27FC236}">
                <a16:creationId xmlns:a16="http://schemas.microsoft.com/office/drawing/2014/main" id="{EB718A7F-BE8E-9C3A-70B5-33C380328AED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0809542" y="2475889"/>
            <a:ext cx="297" cy="492466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438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3770-F49E-48C9-2F78-BE39C79E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C6A87B4-AE71-4FEA-E90C-1BAF5AA82B49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DD67626-8031-D24E-758A-7183DB0CC1A6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C3F5A39-0463-3DA7-BB41-C1AB56763176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170D74-D8B1-896E-A102-722FAD203E88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1F60D83-E697-224C-7B73-99203E23F7EA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9DDD783-524D-81A8-A0EA-1A487CB52CB4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C18B41-D7A2-5A20-D7C3-34D99313323E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3FE688-41B2-2E2B-7EFA-B1B7C4FFAAEE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656E7F8-2783-B227-6D8B-489EB1E34095}"/>
              </a:ext>
            </a:extLst>
          </p:cNvPr>
          <p:cNvSpPr/>
          <p:nvPr/>
        </p:nvSpPr>
        <p:spPr>
          <a:xfrm>
            <a:off x="2994150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受講履歴を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57197E0-C33F-C6D0-A37A-C64F1A73B968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 flipH="1">
            <a:off x="3820286" y="2474963"/>
            <a:ext cx="5062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47325C7-826E-F3E6-CF60-B1528E81A417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受講履歴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552F86D-99CD-BB6C-0774-10B32E4F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67599C-4226-7B74-63C6-9ECD6EB88D3A}"/>
              </a:ext>
            </a:extLst>
          </p:cNvPr>
          <p:cNvSpPr/>
          <p:nvPr/>
        </p:nvSpPr>
        <p:spPr>
          <a:xfrm>
            <a:off x="5319252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結果を表示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4C69E72-D33E-794F-F3F1-06A157FAB507}"/>
              </a:ext>
            </a:extLst>
          </p:cNvPr>
          <p:cNvSpPr/>
          <p:nvPr/>
        </p:nvSpPr>
        <p:spPr>
          <a:xfrm>
            <a:off x="2989088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該当ユーザの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該当研修を抽出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0094CE6-8E9A-0A75-09D7-D313B7EC6593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4651483" y="7997094"/>
            <a:ext cx="6677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EE09E29-E664-3B1B-D032-D19D51EAB84E}"/>
              </a:ext>
            </a:extLst>
          </p:cNvPr>
          <p:cNvSpPr/>
          <p:nvPr/>
        </p:nvSpPr>
        <p:spPr>
          <a:xfrm>
            <a:off x="5353271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AF91A862-0DE8-1D7D-9530-06348E8D65DD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V="1">
            <a:off x="6150450" y="2474963"/>
            <a:ext cx="34019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5BC071-BF45-4DC3-5A52-5BEAA2CE7E17}"/>
              </a:ext>
            </a:extLst>
          </p:cNvPr>
          <p:cNvSpPr/>
          <p:nvPr/>
        </p:nvSpPr>
        <p:spPr>
          <a:xfrm>
            <a:off x="1420668" y="9039957"/>
            <a:ext cx="10370890" cy="8004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altLang="en-US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メリット：</a:t>
            </a:r>
            <a:r>
              <a:rPr lang="ja-JP" altLang="en-US" sz="1600">
                <a:latin typeface="Noto Sans JP" panose="020B0200000000000000" pitchFamily="50" charset="-128"/>
                <a:ea typeface="Noto Sans JP" panose="020B0200000000000000" pitchFamily="50" charset="-128"/>
              </a:rPr>
              <a:t>口頭や個人メール、手入力がないので誤植をなくすことができる。</a:t>
            </a:r>
            <a:endParaRPr lang="en-US" altLang="ja-JP" sz="16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0964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D695-A133-0288-8DDE-FFF6DD87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A377B52-3289-F339-3AEF-6BC3B50FB9BE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FF0390B-82CA-BFC6-EF16-5F1D62FD94A1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8CCD444-3061-9B40-E88B-D98F3E911FA4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4B5D819-3700-B1A7-5365-E582BD6C29AF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EB82B7-3E30-328E-A579-16F6B2DEB378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664E5F-F999-B7F0-D4D0-FF1E50B44FE7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0854974-A0F6-5C33-0D33-B28F293ACBE3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367B810-C333-266A-4D4C-C89C07427BC7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9E510BC-CE23-0581-D04F-37361CBA9425}"/>
              </a:ext>
            </a:extLst>
          </p:cNvPr>
          <p:cNvSpPr/>
          <p:nvPr/>
        </p:nvSpPr>
        <p:spPr>
          <a:xfrm>
            <a:off x="2994149" y="3373975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部下研修一覧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FDA566C-BA7F-D394-D421-EF852D805E69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3825347" y="4506089"/>
            <a:ext cx="0" cy="292494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06844FE-9998-5EEB-627C-A5D6BE8F23A2}"/>
              </a:ext>
            </a:extLst>
          </p:cNvPr>
          <p:cNvSpPr txBox="1"/>
          <p:nvPr/>
        </p:nvSpPr>
        <p:spPr>
          <a:xfrm>
            <a:off x="359114" y="270690"/>
            <a:ext cx="3285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部下研修一覧表示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81C1927-1F18-8B5B-7E9F-AE542BE25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3680" y="9181397"/>
            <a:ext cx="2971800" cy="527403"/>
          </a:xfrm>
        </p:spPr>
        <p:txBody>
          <a:bodyPr/>
          <a:lstStyle/>
          <a:p>
            <a:fld id="{C5D77697-2A9E-45BD-927F-6D4D99402D36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34B5DDF-66A7-37A8-FA47-FC9EA53E863A}"/>
              </a:ext>
            </a:extLst>
          </p:cNvPr>
          <p:cNvSpPr/>
          <p:nvPr/>
        </p:nvSpPr>
        <p:spPr>
          <a:xfrm>
            <a:off x="2994149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該当する部下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を検索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F68653-64F3-37D9-996D-6578D3406C4C}"/>
              </a:ext>
            </a:extLst>
          </p:cNvPr>
          <p:cNvSpPr/>
          <p:nvPr/>
        </p:nvSpPr>
        <p:spPr>
          <a:xfrm>
            <a:off x="5122445" y="3370070"/>
            <a:ext cx="148155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部下一覧が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閲覧可能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6EF4918E-102C-B725-B70D-F3BD577F75A2}"/>
              </a:ext>
            </a:extLst>
          </p:cNvPr>
          <p:cNvCxnSpPr>
            <a:cxnSpLocks/>
            <a:stCxn id="19" idx="3"/>
            <a:endCxn id="34" idx="2"/>
          </p:cNvCxnSpPr>
          <p:nvPr/>
        </p:nvCxnSpPr>
        <p:spPr>
          <a:xfrm flipV="1">
            <a:off x="9175505" y="4502184"/>
            <a:ext cx="1312419" cy="349491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72444D1-4143-BE12-5B19-B3672CE91809}"/>
              </a:ext>
            </a:extLst>
          </p:cNvPr>
          <p:cNvSpPr/>
          <p:nvPr/>
        </p:nvSpPr>
        <p:spPr>
          <a:xfrm>
            <a:off x="7560580" y="7431037"/>
            <a:ext cx="161492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該当の社員の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研修情報の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詳細を表示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BCC6BED-FC1F-5C21-4B10-C14E5FDF261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4656544" y="7997094"/>
            <a:ext cx="46590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CF62C31-3EEC-91FD-21FE-6E90C515D4D4}"/>
              </a:ext>
            </a:extLst>
          </p:cNvPr>
          <p:cNvSpPr/>
          <p:nvPr/>
        </p:nvSpPr>
        <p:spPr>
          <a:xfrm>
            <a:off x="5122446" y="7431037"/>
            <a:ext cx="1539069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部下一覧を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表示する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77B67A7-D15E-B68B-8925-72722F141B6F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H="1" flipV="1">
            <a:off x="5863223" y="4502184"/>
            <a:ext cx="28758" cy="29288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78B056B-12F1-8939-EC53-4680B450F3B3}"/>
              </a:ext>
            </a:extLst>
          </p:cNvPr>
          <p:cNvSpPr/>
          <p:nvPr/>
        </p:nvSpPr>
        <p:spPr>
          <a:xfrm>
            <a:off x="7560581" y="3370070"/>
            <a:ext cx="161492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部下をクリック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63B4D8D9-11F9-87D9-CE38-CD1D1020088B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6604000" y="3936127"/>
            <a:ext cx="95658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43841C1C-5B71-3483-F1D2-C71D8D031A53}"/>
              </a:ext>
            </a:extLst>
          </p:cNvPr>
          <p:cNvCxnSpPr>
            <a:cxnSpLocks/>
            <a:stCxn id="26" idx="2"/>
            <a:endCxn id="19" idx="0"/>
          </p:cNvCxnSpPr>
          <p:nvPr/>
        </p:nvCxnSpPr>
        <p:spPr>
          <a:xfrm flipH="1">
            <a:off x="8368043" y="4502184"/>
            <a:ext cx="1" cy="29288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2F77D80-CCE5-05D1-7AC3-C85D1F4109E3}"/>
              </a:ext>
            </a:extLst>
          </p:cNvPr>
          <p:cNvSpPr/>
          <p:nvPr/>
        </p:nvSpPr>
        <p:spPr>
          <a:xfrm>
            <a:off x="9680461" y="3370070"/>
            <a:ext cx="161492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研修情報の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詳細が確認可能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9953FD-5CAB-72CA-59E5-752D5BEADF66}"/>
              </a:ext>
            </a:extLst>
          </p:cNvPr>
          <p:cNvSpPr/>
          <p:nvPr/>
        </p:nvSpPr>
        <p:spPr>
          <a:xfrm>
            <a:off x="1420668" y="9039957"/>
            <a:ext cx="10370890" cy="8004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altLang="en-US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メリット：</a:t>
            </a:r>
            <a:r>
              <a:rPr lang="ja-JP" altLang="en-US" sz="1600">
                <a:latin typeface="Noto Sans JP" panose="020B0200000000000000" pitchFamily="50" charset="-128"/>
                <a:ea typeface="Noto Sans JP" panose="020B0200000000000000" pitchFamily="50" charset="-128"/>
              </a:rPr>
              <a:t>口頭や個人メール、手入力がないので誤植をなくすことができる。</a:t>
            </a:r>
            <a:endParaRPr lang="en-US" altLang="ja-JP" sz="16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915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83481-EEEB-D51C-7C34-A65EE5669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6FA183E-A497-4C22-E2CA-EB46CB667C5C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C09500E1-E4B4-3CE0-D05F-2A040370CAF5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E507F84-9C2B-19D5-EE10-3039D85EF681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2EE3240-A3CF-EE3B-FED8-50F64DB05BED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C3906B6-2627-6027-0A54-FDBEFFB5F527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15FCBD9-8AE7-7EE2-6739-E2E125C923EC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910FE86-C710-590F-AC92-D1A11BEA6D05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582D7CB-8081-2AC5-ABDA-C7AA6BDD19BA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B7D553F-E8CF-CE31-0CA1-5B753AFDBA97}"/>
              </a:ext>
            </a:extLst>
          </p:cNvPr>
          <p:cNvSpPr/>
          <p:nvPr/>
        </p:nvSpPr>
        <p:spPr>
          <a:xfrm>
            <a:off x="3150904" y="5401641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講義関連資料を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アップロードする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14472048-A473-49E1-8A12-A9D9FF781C6D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6604000" y="2437473"/>
            <a:ext cx="1783365" cy="552336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B0BF38B-7AF9-0D2B-22AC-03720FF85FFB}"/>
              </a:ext>
            </a:extLst>
          </p:cNvPr>
          <p:cNvSpPr txBox="1"/>
          <p:nvPr/>
        </p:nvSpPr>
        <p:spPr>
          <a:xfrm>
            <a:off x="359113" y="270690"/>
            <a:ext cx="5019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講義関連資料の</a:t>
            </a:r>
            <a:r>
              <a:rPr kumimoji="1" lang="en-US" altLang="ja-JP" sz="2800">
                <a:latin typeface="Noto Sans JP" panose="020B0200000000000000" pitchFamily="50" charset="-128"/>
                <a:ea typeface="Noto Sans JP" panose="020B0200000000000000" pitchFamily="50" charset="-128"/>
              </a:rPr>
              <a:t>UL</a:t>
            </a:r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800">
                <a:latin typeface="Noto Sans JP" panose="020B0200000000000000" pitchFamily="50" charset="-128"/>
                <a:ea typeface="Noto Sans JP" panose="020B0200000000000000" pitchFamily="50" charset="-128"/>
              </a:rPr>
              <a:t>DL</a:t>
            </a:r>
            <a:endParaRPr kumimoji="1" lang="ja-JP" altLang="en-US" sz="28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DAFA44-9501-3BF1-61A8-3236412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C7C2CA-B5BF-1322-625F-289DF23793B2}"/>
              </a:ext>
            </a:extLst>
          </p:cNvPr>
          <p:cNvSpPr/>
          <p:nvPr/>
        </p:nvSpPr>
        <p:spPr>
          <a:xfrm>
            <a:off x="7446580" y="1305359"/>
            <a:ext cx="1881570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アップロードされたファイルを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en-US" altLang="ja-JP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DL</a:t>
            </a:r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・閲覧可能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A873FE-F94C-4109-58A9-A0F37257D524}"/>
              </a:ext>
            </a:extLst>
          </p:cNvPr>
          <p:cNvSpPr/>
          <p:nvPr/>
        </p:nvSpPr>
        <p:spPr>
          <a:xfrm>
            <a:off x="4941605" y="7394783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ファイルを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FEDBAC0F-3D37-B418-1304-397841286D24}"/>
              </a:ext>
            </a:extLst>
          </p:cNvPr>
          <p:cNvCxnSpPr>
            <a:cxnSpLocks/>
            <a:stCxn id="15" idx="3"/>
            <a:endCxn id="6" idx="0"/>
          </p:cNvCxnSpPr>
          <p:nvPr/>
        </p:nvCxnSpPr>
        <p:spPr>
          <a:xfrm>
            <a:off x="4813299" y="5967698"/>
            <a:ext cx="959504" cy="142708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28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B7FA-1C66-559B-AED8-3A2F740D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163FE1B-892B-953E-7B7F-AC78C7D72694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B3F84A2-3A7C-D6C6-B3A2-7681FF3E4C23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3271E3E-0248-DB33-F0D6-612AAF061CF7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60DF04F-8C31-B75E-442B-0CEC87097577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08217D2-58E1-C915-5B36-B8009BD7053E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FFA9003-7B88-870A-F234-3D2E6D40F1B3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9BC0E7A-2970-9E87-177C-E2BEC3C25A34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CFD519-A7F9-599E-B07F-6DA8B4D965F2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C3906F-45C0-A42D-6847-A846C70C973E}"/>
              </a:ext>
            </a:extLst>
          </p:cNvPr>
          <p:cNvSpPr/>
          <p:nvPr/>
        </p:nvSpPr>
        <p:spPr>
          <a:xfrm>
            <a:off x="2989088" y="3372245"/>
            <a:ext cx="14130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報告書の型を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アップロード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2D5832A-BC98-0357-14F4-73F4812DC4C0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 flipH="1">
            <a:off x="3690016" y="4504359"/>
            <a:ext cx="5620" cy="292740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3757F19-E1D2-197C-1E08-C899EE4C6ED7}"/>
              </a:ext>
            </a:extLst>
          </p:cNvPr>
          <p:cNvSpPr txBox="1"/>
          <p:nvPr/>
        </p:nvSpPr>
        <p:spPr>
          <a:xfrm>
            <a:off x="359114" y="291619"/>
            <a:ext cx="482748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/>
              </a:rPr>
              <a:t>事前に報告書アップロード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2C4AB3-B14D-76BC-6A9C-E2272D5C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76F4ADE-8B55-3BBB-7FBC-5450726B7337}"/>
              </a:ext>
            </a:extLst>
          </p:cNvPr>
          <p:cNvSpPr/>
          <p:nvPr/>
        </p:nvSpPr>
        <p:spPr>
          <a:xfrm>
            <a:off x="5099255" y="7494660"/>
            <a:ext cx="14130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結果を表示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64F1AB-CD4F-0079-14C6-52C1A49A017E}"/>
              </a:ext>
            </a:extLst>
          </p:cNvPr>
          <p:cNvSpPr/>
          <p:nvPr/>
        </p:nvSpPr>
        <p:spPr>
          <a:xfrm>
            <a:off x="2983055" y="7431765"/>
            <a:ext cx="1413922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該当ファイルを登録する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60EE3E49-5111-A1C9-6264-6D8B99A2876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512351" y="2537858"/>
            <a:ext cx="389075" cy="5522859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7">
            <a:extLst>
              <a:ext uri="{FF2B5EF4-FFF2-40B4-BE49-F238E27FC236}">
                <a16:creationId xmlns:a16="http://schemas.microsoft.com/office/drawing/2014/main" id="{6D9ABD91-6FAB-D6E1-CD16-904B8A4F1975}"/>
              </a:ext>
            </a:extLst>
          </p:cNvPr>
          <p:cNvCxnSpPr>
            <a:cxnSpLocks/>
          </p:cNvCxnSpPr>
          <p:nvPr/>
        </p:nvCxnSpPr>
        <p:spPr>
          <a:xfrm flipV="1">
            <a:off x="4397965" y="8049507"/>
            <a:ext cx="696710" cy="843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4">
            <a:extLst>
              <a:ext uri="{FF2B5EF4-FFF2-40B4-BE49-F238E27FC236}">
                <a16:creationId xmlns:a16="http://schemas.microsoft.com/office/drawing/2014/main" id="{3AF787CC-9A90-E86D-CD81-7407E73A4C29}"/>
              </a:ext>
            </a:extLst>
          </p:cNvPr>
          <p:cNvSpPr/>
          <p:nvPr/>
        </p:nvSpPr>
        <p:spPr>
          <a:xfrm>
            <a:off x="6189439" y="1341409"/>
            <a:ext cx="14130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ea typeface="Noto Sans JP"/>
              </a:rPr>
              <a:t>結果を確認</a:t>
            </a:r>
          </a:p>
        </p:txBody>
      </p:sp>
    </p:spTree>
    <p:extLst>
      <p:ext uri="{BB962C8B-B14F-4D97-AF65-F5344CB8AC3E}">
        <p14:creationId xmlns:p14="http://schemas.microsoft.com/office/powerpoint/2010/main" val="2616578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B7E6-7744-954E-46D3-554D4A27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2087752-53B3-FD90-2995-2EECA4F15CDD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27F6FED-128E-5D53-F3B6-33F4832CFFF4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73C1D47-BC56-FF8A-27AC-B1D799772872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71DE4CC-506F-B02C-D2A5-1BA9612D1EFB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00CA10E-2DBF-A9D0-4F88-FBFA00ADB6D9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6483AC8-FE1C-F376-E6FB-2DB3C59A2A8E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8D1C18-76CB-0E49-5B87-10A73FA5E9E1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23F9A0E-FD39-B74C-D5E0-28C9CE3A1301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E612853-C922-37C8-E486-7707DB09F0DE}"/>
              </a:ext>
            </a:extLst>
          </p:cNvPr>
          <p:cNvSpPr txBox="1"/>
          <p:nvPr/>
        </p:nvSpPr>
        <p:spPr>
          <a:xfrm>
            <a:off x="359114" y="270690"/>
            <a:ext cx="378971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/>
              </a:rPr>
              <a:t>報告書ダウンロード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CD1FAA-351B-A4F6-7338-5A31249F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12</a:t>
            </a:fld>
            <a:endParaRPr kumimoji="1" lang="ja-JP" altLang="en-US"/>
          </a:p>
        </p:txBody>
      </p:sp>
      <p:cxnSp>
        <p:nvCxnSpPr>
          <p:cNvPr id="20" name="コネクタ: カギ線 28">
            <a:extLst>
              <a:ext uri="{FF2B5EF4-FFF2-40B4-BE49-F238E27FC236}">
                <a16:creationId xmlns:a16="http://schemas.microsoft.com/office/drawing/2014/main" id="{D2CF024B-DFBF-7A5B-7DD8-63C668168444}"/>
              </a:ext>
            </a:extLst>
          </p:cNvPr>
          <p:cNvCxnSpPr>
            <a:cxnSpLocks/>
          </p:cNvCxnSpPr>
          <p:nvPr/>
        </p:nvCxnSpPr>
        <p:spPr>
          <a:xfrm flipH="1">
            <a:off x="4299175" y="2473466"/>
            <a:ext cx="131552" cy="4890801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82A46BD-8576-B4B0-6AB3-1414F154D729}"/>
              </a:ext>
            </a:extLst>
          </p:cNvPr>
          <p:cNvSpPr/>
          <p:nvPr/>
        </p:nvSpPr>
        <p:spPr>
          <a:xfrm>
            <a:off x="3594795" y="1374296"/>
            <a:ext cx="1413921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報告書を選択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正方形/長方形 3">
            <a:extLst>
              <a:ext uri="{FF2B5EF4-FFF2-40B4-BE49-F238E27FC236}">
                <a16:creationId xmlns:a16="http://schemas.microsoft.com/office/drawing/2014/main" id="{9C9E97B8-9BD1-F986-B1A1-4B5C2F3B430F}"/>
              </a:ext>
            </a:extLst>
          </p:cNvPr>
          <p:cNvSpPr/>
          <p:nvPr/>
        </p:nvSpPr>
        <p:spPr>
          <a:xfrm>
            <a:off x="6959690" y="1374295"/>
            <a:ext cx="1413921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結果を確認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2" name="コネクタ: カギ線 28">
            <a:extLst>
              <a:ext uri="{FF2B5EF4-FFF2-40B4-BE49-F238E27FC236}">
                <a16:creationId xmlns:a16="http://schemas.microsoft.com/office/drawing/2014/main" id="{3916AF3D-5DBD-3920-4A96-66FDC6112ED2}"/>
              </a:ext>
            </a:extLst>
          </p:cNvPr>
          <p:cNvCxnSpPr>
            <a:cxnSpLocks/>
          </p:cNvCxnSpPr>
          <p:nvPr/>
        </p:nvCxnSpPr>
        <p:spPr>
          <a:xfrm flipV="1">
            <a:off x="5007265" y="2447956"/>
            <a:ext cx="2667287" cy="556029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2059220-4FB5-83FD-138D-037B8D6F2E2E}"/>
              </a:ext>
            </a:extLst>
          </p:cNvPr>
          <p:cNvSpPr/>
          <p:nvPr/>
        </p:nvSpPr>
        <p:spPr>
          <a:xfrm>
            <a:off x="3660954" y="7370309"/>
            <a:ext cx="1413922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報告書を</a:t>
            </a:r>
            <a:endParaRPr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ダウンロード</a:t>
            </a:r>
          </a:p>
        </p:txBody>
      </p:sp>
    </p:spTree>
    <p:extLst>
      <p:ext uri="{BB962C8B-B14F-4D97-AF65-F5344CB8AC3E}">
        <p14:creationId xmlns:p14="http://schemas.microsoft.com/office/powerpoint/2010/main" val="911713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3F84-5EB7-6742-7FFE-5A51D5094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30FE2F3-574C-A784-1FE6-81030AC0B44F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2E2EA60-E5FA-4A5A-08BF-F480A198446F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82756C1-D4CE-0175-EF45-8A169C7A9FDC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1255DFC-9C8F-B2C1-F1AC-20E8B48F76EC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03AE6BE-4BE6-2478-0634-75ACC4FDADD4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3A4732-24DA-0186-5CF6-78C5B81DDE43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45B710E-7259-23AD-A4D9-51247027E393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E19834F-045E-6FB0-4613-E7A4E5E2872F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FFF3DC5-1C6B-FE97-F8C1-2218E6CCBF5A}"/>
              </a:ext>
            </a:extLst>
          </p:cNvPr>
          <p:cNvSpPr txBox="1"/>
          <p:nvPr/>
        </p:nvSpPr>
        <p:spPr>
          <a:xfrm>
            <a:off x="359114" y="270690"/>
            <a:ext cx="524678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/>
              </a:rPr>
              <a:t>記入済み報告書アップロード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D0F537-06EA-1B19-437E-9731953E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CCD3A01-00FC-A59F-855D-50DF84F27741}"/>
              </a:ext>
            </a:extLst>
          </p:cNvPr>
          <p:cNvSpPr/>
          <p:nvPr/>
        </p:nvSpPr>
        <p:spPr>
          <a:xfrm>
            <a:off x="4688243" y="1437192"/>
            <a:ext cx="1413922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記入済の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アップロード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6239EBE-1B7F-FDFF-4D7F-B25CB9D857C9}"/>
              </a:ext>
            </a:extLst>
          </p:cNvPr>
          <p:cNvSpPr/>
          <p:nvPr/>
        </p:nvSpPr>
        <p:spPr>
          <a:xfrm>
            <a:off x="7171615" y="1437192"/>
            <a:ext cx="1413922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結果を確認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1FE7905-5B42-BBF8-DF4D-4A2D94B4AF41}"/>
              </a:ext>
            </a:extLst>
          </p:cNvPr>
          <p:cNvSpPr/>
          <p:nvPr/>
        </p:nvSpPr>
        <p:spPr>
          <a:xfrm>
            <a:off x="4688243" y="7525380"/>
            <a:ext cx="1413922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AB22E17E-109E-26E4-ABAE-D9187A871DFA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>
            <a:off x="5395204" y="2569306"/>
            <a:ext cx="0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413AE36B-F066-09F9-8B9D-BB1E96FB1F55}"/>
              </a:ext>
            </a:extLst>
          </p:cNvPr>
          <p:cNvCxnSpPr>
            <a:cxnSpLocks/>
          </p:cNvCxnSpPr>
          <p:nvPr/>
        </p:nvCxnSpPr>
        <p:spPr>
          <a:xfrm flipV="1">
            <a:off x="6102165" y="2558823"/>
            <a:ext cx="1786893" cy="553261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5">
            <a:extLst>
              <a:ext uri="{FF2B5EF4-FFF2-40B4-BE49-F238E27FC236}">
                <a16:creationId xmlns:a16="http://schemas.microsoft.com/office/drawing/2014/main" id="{3E64D7F4-F69F-B436-34FF-05865D9AE4CF}"/>
              </a:ext>
            </a:extLst>
          </p:cNvPr>
          <p:cNvSpPr/>
          <p:nvPr/>
        </p:nvSpPr>
        <p:spPr>
          <a:xfrm>
            <a:off x="1420668" y="9039957"/>
            <a:ext cx="10370890" cy="8004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altLang="en-US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メリット：上長と社員間で発生していたやり取りがなくなり、上長の作業負担が減る。</a:t>
            </a:r>
            <a:endParaRPr lang="en-US" altLang="ja-JP" sz="1600">
              <a:solidFill>
                <a:srgbClr val="00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3746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DA63-481D-6296-96CF-C10E61FE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013B02A-2217-F7AE-8B3E-F579F40DCAC0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A110AAD-E6AB-A8A4-F399-809F30D06A7A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EB8163C-7FF7-B4B3-62F3-72DFBCDF2C81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E985FB3-3486-2238-47BE-175A392BF1A2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0B6A1F-4865-D8F8-80FA-BD6BEE982F62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632C0D-C7EB-EA13-9DBB-E2EE0B639E7E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58FC26-F3B9-DAD9-1AAB-EDB05E82505D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BBEC475-4CBD-8A52-5821-2758BCEFF5A4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D2F8FF3-51D5-A5F8-FA84-F2CCA82F0543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flipH="1">
            <a:off x="5448205" y="4504359"/>
            <a:ext cx="1" cy="29715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8E48A72-D01D-18AB-5102-E92A7F4D773E}"/>
              </a:ext>
            </a:extLst>
          </p:cNvPr>
          <p:cNvSpPr txBox="1"/>
          <p:nvPr/>
        </p:nvSpPr>
        <p:spPr>
          <a:xfrm>
            <a:off x="359114" y="270690"/>
            <a:ext cx="3228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報告書のチェック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979C78-EBD7-29BB-5B21-9A21985D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74EEBD-3C21-42DC-E2DE-D24D3C0C3610}"/>
              </a:ext>
            </a:extLst>
          </p:cNvPr>
          <p:cNvSpPr/>
          <p:nvPr/>
        </p:nvSpPr>
        <p:spPr>
          <a:xfrm>
            <a:off x="4617008" y="3372245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報告書の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再提出チェック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コメント入力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BB179F5-CF67-D815-E827-F0A5C79CFF70}"/>
              </a:ext>
            </a:extLst>
          </p:cNvPr>
          <p:cNvSpPr/>
          <p:nvPr/>
        </p:nvSpPr>
        <p:spPr>
          <a:xfrm>
            <a:off x="7086864" y="747591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お知らせを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送信する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1D2AA88-E0FB-0A6C-9658-04C39066E8E6}"/>
              </a:ext>
            </a:extLst>
          </p:cNvPr>
          <p:cNvSpPr/>
          <p:nvPr/>
        </p:nvSpPr>
        <p:spPr>
          <a:xfrm>
            <a:off x="6959831" y="1329543"/>
            <a:ext cx="1916459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お知らせに来ている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再提出・コメントを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9E0970-F225-8DEA-405E-8716AA1E0CCF}"/>
              </a:ext>
            </a:extLst>
          </p:cNvPr>
          <p:cNvSpPr/>
          <p:nvPr/>
        </p:nvSpPr>
        <p:spPr>
          <a:xfrm>
            <a:off x="2713388" y="3372245"/>
            <a:ext cx="1326418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報告書の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閲覧可能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0739571-550B-9AE8-0D0D-0C1541B50FDB}"/>
              </a:ext>
            </a:extLst>
          </p:cNvPr>
          <p:cNvSpPr/>
          <p:nvPr/>
        </p:nvSpPr>
        <p:spPr>
          <a:xfrm>
            <a:off x="2713387" y="5370863"/>
            <a:ext cx="1326418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報告書の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閲覧可能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3F93F75A-1B8F-0BC7-A08A-2B454AE467A9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4039806" y="3938302"/>
            <a:ext cx="57720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271A8E7-628D-FA94-E651-D8F4312E0D5D}"/>
              </a:ext>
            </a:extLst>
          </p:cNvPr>
          <p:cNvSpPr/>
          <p:nvPr/>
        </p:nvSpPr>
        <p:spPr>
          <a:xfrm>
            <a:off x="4617007" y="747591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再提出チェック・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コメントを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システムに登録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0730238-EF27-CF59-9AC4-2E7E63C7F108}"/>
              </a:ext>
            </a:extLst>
          </p:cNvPr>
          <p:cNvSpPr/>
          <p:nvPr/>
        </p:nvSpPr>
        <p:spPr>
          <a:xfrm>
            <a:off x="9595466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報告書の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再提出可能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13141114-3BC0-2EE5-3037-5E798D385150}"/>
              </a:ext>
            </a:extLst>
          </p:cNvPr>
          <p:cNvCxnSpPr>
            <a:cxnSpLocks/>
            <a:stCxn id="24" idx="3"/>
            <a:endCxn id="7" idx="1"/>
          </p:cNvCxnSpPr>
          <p:nvPr/>
        </p:nvCxnSpPr>
        <p:spPr>
          <a:xfrm>
            <a:off x="6279402" y="8041976"/>
            <a:ext cx="80746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42137FE8-6505-4B60-8240-76BCA80FE43D}"/>
              </a:ext>
            </a:extLst>
          </p:cNvPr>
          <p:cNvCxnSpPr>
            <a:cxnSpLocks/>
            <a:stCxn id="7" idx="0"/>
            <a:endCxn id="42" idx="2"/>
          </p:cNvCxnSpPr>
          <p:nvPr/>
        </p:nvCxnSpPr>
        <p:spPr>
          <a:xfrm flipH="1" flipV="1">
            <a:off x="7918061" y="2461657"/>
            <a:ext cx="1" cy="50142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90AE2A91-7EEA-8F6D-05C4-C1870B15CD8D}"/>
              </a:ext>
            </a:extLst>
          </p:cNvPr>
          <p:cNvCxnSpPr>
            <a:cxnSpLocks/>
            <a:stCxn id="42" idx="3"/>
            <a:endCxn id="25" idx="1"/>
          </p:cNvCxnSpPr>
          <p:nvPr/>
        </p:nvCxnSpPr>
        <p:spPr>
          <a:xfrm>
            <a:off x="8876290" y="1895600"/>
            <a:ext cx="719176" cy="1330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000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DA63-481D-6296-96CF-C10E61FE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013B02A-2217-F7AE-8B3E-F579F40DCAC0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A110AAD-E6AB-A8A4-F399-809F30D06A7A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EB8163C-7FF7-B4B3-62F3-72DFBCDF2C81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E985FB3-3486-2238-47BE-175A392BF1A2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0B6A1F-4865-D8F8-80FA-BD6BEE982F62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632C0D-C7EB-EA13-9DBB-E2EE0B639E7E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58FC26-F3B9-DAD9-1AAB-EDB05E82505D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BBEC475-4CBD-8A52-5821-2758BCEFF5A4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D2F8FF3-51D5-A5F8-FA84-F2CCA82F0543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289941" y="4504359"/>
            <a:ext cx="1" cy="292667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80868DA-C8F4-3FED-23AA-6440FD4E92A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656544" y="1898424"/>
            <a:ext cx="643880" cy="550959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8E48A72-D01D-18AB-5102-E92A7F4D773E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事前課題管理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979C78-EBD7-29BB-5B21-9A21985D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1586510-E43A-F8D1-5CA5-1F21ECF14F99}"/>
              </a:ext>
            </a:extLst>
          </p:cNvPr>
          <p:cNvSpPr/>
          <p:nvPr/>
        </p:nvSpPr>
        <p:spPr>
          <a:xfrm>
            <a:off x="4458743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提出課題を</a:t>
            </a:r>
            <a:endParaRPr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システムに登録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B51A939-9EF5-6C3C-13E0-235691EC8834}"/>
              </a:ext>
            </a:extLst>
          </p:cNvPr>
          <p:cNvSpPr/>
          <p:nvPr/>
        </p:nvSpPr>
        <p:spPr>
          <a:xfrm>
            <a:off x="2994149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事前課題を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提出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125DEB4-1F37-7BED-9A60-95B0CD079D93}"/>
              </a:ext>
            </a:extLst>
          </p:cNvPr>
          <p:cNvSpPr/>
          <p:nvPr/>
        </p:nvSpPr>
        <p:spPr>
          <a:xfrm>
            <a:off x="4751741" y="1168678"/>
            <a:ext cx="1486960" cy="566057"/>
          </a:xfrm>
          <a:prstGeom prst="rect">
            <a:avLst/>
          </a:prstGeom>
          <a:solidFill>
            <a:srgbClr val="FFB7B7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メールにも通知（お知らせ）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54D89AD-F46F-A47A-6D86-C5E236345381}"/>
              </a:ext>
            </a:extLst>
          </p:cNvPr>
          <p:cNvSpPr/>
          <p:nvPr/>
        </p:nvSpPr>
        <p:spPr>
          <a:xfrm>
            <a:off x="7942574" y="2640576"/>
            <a:ext cx="1106549" cy="566057"/>
          </a:xfrm>
          <a:prstGeom prst="rect">
            <a:avLst/>
          </a:prstGeom>
          <a:solidFill>
            <a:srgbClr val="FBFAD2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要再提出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の場合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1D2AA88-E0FB-0A6C-9658-04C39066E8E6}"/>
              </a:ext>
            </a:extLst>
          </p:cNvPr>
          <p:cNvSpPr/>
          <p:nvPr/>
        </p:nvSpPr>
        <p:spPr>
          <a:xfrm>
            <a:off x="6592227" y="1347162"/>
            <a:ext cx="2144847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再提出のチェックを確認できる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0149E5B7-0467-776D-9378-CF7C3DF0DC53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6121138" y="4504359"/>
            <a:ext cx="1543514" cy="349273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74EEBD-3C21-42DC-E2DE-D24D3C0C3610}"/>
              </a:ext>
            </a:extLst>
          </p:cNvPr>
          <p:cNvSpPr/>
          <p:nvPr/>
        </p:nvSpPr>
        <p:spPr>
          <a:xfrm>
            <a:off x="6833454" y="3372245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提出された部下の課題を確認できる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6D7BBB4-CF2C-CB89-AB01-1925D2CBE1F1}"/>
              </a:ext>
            </a:extLst>
          </p:cNvPr>
          <p:cNvCxnSpPr>
            <a:cxnSpLocks/>
            <a:stCxn id="5" idx="0"/>
            <a:endCxn id="42" idx="2"/>
          </p:cNvCxnSpPr>
          <p:nvPr/>
        </p:nvCxnSpPr>
        <p:spPr>
          <a:xfrm flipH="1" flipV="1">
            <a:off x="7664651" y="2479276"/>
            <a:ext cx="1" cy="89296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8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AD48-C0E9-FBD6-E4FF-9A4BB089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F8C0AF2-6C9E-3E4F-F1C0-B0F5A7FE5A8C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8BD756D-6818-00DD-6489-88AE0A31291F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559DBB8-9721-E3DE-F9D1-B5878F92DE8B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7629736-5C5B-8C2A-AC5F-E1839B2ECAB4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5D1075-CA52-B903-4015-E149F0CBDB18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C6C164-14D8-8234-72A8-E57CA2A3E09C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576AE2-3C98-C3BD-E5E8-60FBBFCCAE4F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81F885B-CBDA-82EA-B7C3-C18C4E350C97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114F7E2-9DF8-25D0-CA2C-E997694F3A58}"/>
              </a:ext>
            </a:extLst>
          </p:cNvPr>
          <p:cNvSpPr/>
          <p:nvPr/>
        </p:nvSpPr>
        <p:spPr>
          <a:xfrm>
            <a:off x="2932046" y="5401641"/>
            <a:ext cx="168128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研修登録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内容入力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B8925B5-F19B-16C1-47C6-7E9FFB6F9B21}"/>
              </a:ext>
            </a:extLst>
          </p:cNvPr>
          <p:cNvSpPr/>
          <p:nvPr/>
        </p:nvSpPr>
        <p:spPr>
          <a:xfrm>
            <a:off x="2951222" y="7431038"/>
            <a:ext cx="1662110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名前・</a:t>
            </a:r>
            <a:r>
              <a:rPr kumimoji="1" lang="en-US" altLang="ja-JP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日付・適正年次・（事前資料）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を登録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18AABFF-FF83-D856-56D7-3845A338682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3772689" y="6533755"/>
            <a:ext cx="9588" cy="8972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45CE36-8860-FA94-3DDE-25539C6449AB}"/>
              </a:ext>
            </a:extLst>
          </p:cNvPr>
          <p:cNvSpPr/>
          <p:nvPr/>
        </p:nvSpPr>
        <p:spPr>
          <a:xfrm>
            <a:off x="5430185" y="7431038"/>
            <a:ext cx="1481602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CC0F5D6-334D-B5CE-83C1-C95D98978B7F}"/>
              </a:ext>
            </a:extLst>
          </p:cNvPr>
          <p:cNvSpPr txBox="1"/>
          <p:nvPr/>
        </p:nvSpPr>
        <p:spPr>
          <a:xfrm>
            <a:off x="359115" y="270690"/>
            <a:ext cx="2097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研修登録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2C825901-5EEE-D456-597D-225ED2A7C36F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4613332" y="7997095"/>
            <a:ext cx="81685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スライド番号プレースホルダー 53">
            <a:extLst>
              <a:ext uri="{FF2B5EF4-FFF2-40B4-BE49-F238E27FC236}">
                <a16:creationId xmlns:a16="http://schemas.microsoft.com/office/drawing/2014/main" id="{A824C531-8872-1D51-00E3-E25521A1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16</a:t>
            </a:fld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C3CA0FD-9E86-AB25-B1FA-05B661F186E1}"/>
              </a:ext>
            </a:extLst>
          </p:cNvPr>
          <p:cNvCxnSpPr>
            <a:cxnSpLocks/>
            <a:stCxn id="21" idx="0"/>
            <a:endCxn id="19" idx="2"/>
          </p:cNvCxnSpPr>
          <p:nvPr/>
        </p:nvCxnSpPr>
        <p:spPr>
          <a:xfrm flipV="1">
            <a:off x="6170986" y="6533755"/>
            <a:ext cx="0" cy="8972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83E2FFC-0DE9-F297-8348-D6F7A9F6330E}"/>
              </a:ext>
            </a:extLst>
          </p:cNvPr>
          <p:cNvSpPr/>
          <p:nvPr/>
        </p:nvSpPr>
        <p:spPr>
          <a:xfrm>
            <a:off x="5430185" y="5401641"/>
            <a:ext cx="1481602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登録内容が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777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3697C-89A1-4A6C-488E-8EEC97E2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E7612DD-F0AD-FEE2-DF27-DC6B4D426B46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CFEB8DA-D834-3DC0-35A3-23E0C872BCA0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114DB89-EC52-0D3C-0A03-3B9D8CF87282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FFD69EE-4C6E-1805-455B-4B4F24F06BC3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B2C0903-276C-33CC-507B-546546E32F1E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858153-5313-4701-5BDF-0EB4E1732E6B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5E1040F-4CFB-97F6-2AD1-A058F9F5DDE9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077F09-0AC5-C260-ECD0-0ECF751B3CA4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CB64C1-46A6-E4F7-08CE-8108164B16CA}"/>
              </a:ext>
            </a:extLst>
          </p:cNvPr>
          <p:cNvSpPr/>
          <p:nvPr/>
        </p:nvSpPr>
        <p:spPr>
          <a:xfrm>
            <a:off x="2880375" y="5364749"/>
            <a:ext cx="1366778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編集したい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研修を選択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749E663C-47F5-7267-9382-1BC12244695F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 flipV="1">
            <a:off x="8818392" y="6515354"/>
            <a:ext cx="1442185" cy="148174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59BBFC9-E5BC-FF94-04A9-853D94E7592F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研修編集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5AF5FC-67B8-4567-3803-882424778C59}"/>
              </a:ext>
            </a:extLst>
          </p:cNvPr>
          <p:cNvSpPr/>
          <p:nvPr/>
        </p:nvSpPr>
        <p:spPr>
          <a:xfrm>
            <a:off x="3538066" y="7429810"/>
            <a:ext cx="204560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研修情報ページへ遷移</a:t>
            </a:r>
            <a:endParaRPr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44C016-B409-9752-27FA-0D17EB9068BB}"/>
              </a:ext>
            </a:extLst>
          </p:cNvPr>
          <p:cNvSpPr/>
          <p:nvPr/>
        </p:nvSpPr>
        <p:spPr>
          <a:xfrm>
            <a:off x="7410505" y="7431037"/>
            <a:ext cx="1407887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内容を表示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DA253C6-B1CA-0CB2-AB91-746B5FC7B242}"/>
              </a:ext>
            </a:extLst>
          </p:cNvPr>
          <p:cNvSpPr/>
          <p:nvPr/>
        </p:nvSpPr>
        <p:spPr>
          <a:xfrm>
            <a:off x="9556633" y="5383240"/>
            <a:ext cx="1407887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変更内容を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</a:t>
            </a:r>
          </a:p>
        </p:txBody>
      </p:sp>
      <p:sp>
        <p:nvSpPr>
          <p:cNvPr id="44" name="スライド番号プレースホルダー 43">
            <a:extLst>
              <a:ext uri="{FF2B5EF4-FFF2-40B4-BE49-F238E27FC236}">
                <a16:creationId xmlns:a16="http://schemas.microsoft.com/office/drawing/2014/main" id="{B0A66702-1E20-2EC3-108C-F3C27E66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17</a:t>
            </a:fld>
            <a:endParaRPr kumimoji="1" lang="ja-JP" altLang="en-US"/>
          </a:p>
        </p:txBody>
      </p:sp>
      <p:cxnSp>
        <p:nvCxnSpPr>
          <p:cNvPr id="6" name="コネクタ: カギ線 28">
            <a:extLst>
              <a:ext uri="{FF2B5EF4-FFF2-40B4-BE49-F238E27FC236}">
                <a16:creationId xmlns:a16="http://schemas.microsoft.com/office/drawing/2014/main" id="{DA21B2F9-910D-77AA-99DB-5FB9915BCA58}"/>
              </a:ext>
            </a:extLst>
          </p:cNvPr>
          <p:cNvCxnSpPr>
            <a:cxnSpLocks/>
          </p:cNvCxnSpPr>
          <p:nvPr/>
        </p:nvCxnSpPr>
        <p:spPr>
          <a:xfrm>
            <a:off x="4237522" y="5963481"/>
            <a:ext cx="320554" cy="1453370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8">
            <a:extLst>
              <a:ext uri="{FF2B5EF4-FFF2-40B4-BE49-F238E27FC236}">
                <a16:creationId xmlns:a16="http://schemas.microsoft.com/office/drawing/2014/main" id="{3E5F0013-4246-8533-D815-B8C867A65A8C}"/>
              </a:ext>
            </a:extLst>
          </p:cNvPr>
          <p:cNvCxnSpPr>
            <a:cxnSpLocks/>
          </p:cNvCxnSpPr>
          <p:nvPr/>
        </p:nvCxnSpPr>
        <p:spPr>
          <a:xfrm flipV="1">
            <a:off x="5589770" y="6504869"/>
            <a:ext cx="970471" cy="165994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8">
            <a:extLst>
              <a:ext uri="{FF2B5EF4-FFF2-40B4-BE49-F238E27FC236}">
                <a16:creationId xmlns:a16="http://schemas.microsoft.com/office/drawing/2014/main" id="{0397850C-2383-618D-32C7-0C64884C52AD}"/>
              </a:ext>
            </a:extLst>
          </p:cNvPr>
          <p:cNvCxnSpPr>
            <a:cxnSpLocks/>
          </p:cNvCxnSpPr>
          <p:nvPr/>
        </p:nvCxnSpPr>
        <p:spPr>
          <a:xfrm>
            <a:off x="6816227" y="5984447"/>
            <a:ext cx="1305912" cy="1453369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99883ED5-7825-7351-B34E-5B0DACC5A888}"/>
              </a:ext>
            </a:extLst>
          </p:cNvPr>
          <p:cNvSpPr/>
          <p:nvPr/>
        </p:nvSpPr>
        <p:spPr>
          <a:xfrm>
            <a:off x="5825969" y="5417162"/>
            <a:ext cx="1534498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編集内容を入力</a:t>
            </a:r>
            <a:endParaRPr lang="ja-JP" altLang="en-US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5" name="Rectangle: Rounded Corners 15">
            <a:extLst>
              <a:ext uri="{FF2B5EF4-FFF2-40B4-BE49-F238E27FC236}">
                <a16:creationId xmlns:a16="http://schemas.microsoft.com/office/drawing/2014/main" id="{424FC2F1-F303-84FD-E0A6-B9A1688BEC68}"/>
              </a:ext>
            </a:extLst>
          </p:cNvPr>
          <p:cNvSpPr/>
          <p:nvPr/>
        </p:nvSpPr>
        <p:spPr>
          <a:xfrm>
            <a:off x="1420668" y="9039957"/>
            <a:ext cx="10370890" cy="8004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altLang="en-US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メリット：</a:t>
            </a:r>
            <a:r>
              <a:rPr lang="en-US" altLang="ja-JP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</a:t>
            </a:r>
            <a:r>
              <a:rPr lang="ja-JP" altLang="en-US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への手入力がなくなり、誤植や御入力のリスクを減らすことができる。</a:t>
            </a:r>
            <a:endParaRPr lang="en-US" altLang="ja-JP" sz="1600">
              <a:solidFill>
                <a:srgbClr val="00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0042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33EF1-EFC4-6352-25F1-80CCFB99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178B8F0-ECA9-C7C7-8115-334CF29B759A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7A7F41A-34D6-7374-1782-6A0D53C9F8BE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7411876-305D-3174-C466-B02E9EA17EC9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C80CA29-B234-74F5-4C21-62A361E1B00C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AE2F121-99A8-15BB-A4B1-507B2672BEBC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3C786AB-D9CC-3C8F-9F5B-12EAEC7BCA03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D04369E-1B2D-ED85-D471-5CA8DE5263E5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6D63F51-5271-B04D-4D0F-6B7036FEE914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D121660-9AB3-E67E-7626-8686E510B8FC}"/>
              </a:ext>
            </a:extLst>
          </p:cNvPr>
          <p:cNvSpPr/>
          <p:nvPr/>
        </p:nvSpPr>
        <p:spPr>
          <a:xfrm>
            <a:off x="3199064" y="5401641"/>
            <a:ext cx="144913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研修削除ボタン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859227F-EBD9-C09D-7EB4-5544526670DB}"/>
              </a:ext>
            </a:extLst>
          </p:cNvPr>
          <p:cNvCxnSpPr>
            <a:cxnSpLocks/>
            <a:stCxn id="15" idx="3"/>
            <a:endCxn id="6" idx="1"/>
          </p:cNvCxnSpPr>
          <p:nvPr/>
        </p:nvCxnSpPr>
        <p:spPr>
          <a:xfrm>
            <a:off x="4648199" y="5967698"/>
            <a:ext cx="63465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0F8D179-C7CE-F7E4-C12A-F70BEF1D7497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研修削除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41899D1-1F16-CC9A-961C-6958621EE859}"/>
              </a:ext>
            </a:extLst>
          </p:cNvPr>
          <p:cNvSpPr/>
          <p:nvPr/>
        </p:nvSpPr>
        <p:spPr>
          <a:xfrm>
            <a:off x="5282852" y="5401641"/>
            <a:ext cx="13615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削除する研修を選択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0333E78-4AD8-39D1-FDAB-C8AD0073B059}"/>
              </a:ext>
            </a:extLst>
          </p:cNvPr>
          <p:cNvSpPr/>
          <p:nvPr/>
        </p:nvSpPr>
        <p:spPr>
          <a:xfrm>
            <a:off x="7279101" y="5401641"/>
            <a:ext cx="13615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6566C78-692A-24F4-19E1-BAEE63082942}"/>
              </a:ext>
            </a:extLst>
          </p:cNvPr>
          <p:cNvSpPr/>
          <p:nvPr/>
        </p:nvSpPr>
        <p:spPr>
          <a:xfrm>
            <a:off x="7279101" y="7431037"/>
            <a:ext cx="13615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研修を削除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F271E55-56A4-2256-15DC-3D68312993A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644448" y="5967698"/>
            <a:ext cx="63465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E447DE43-69B7-76D4-1814-985AB1898F00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>
            <a:off x="7959899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スライド番号プレースホルダー 32">
            <a:extLst>
              <a:ext uri="{FF2B5EF4-FFF2-40B4-BE49-F238E27FC236}">
                <a16:creationId xmlns:a16="http://schemas.microsoft.com/office/drawing/2014/main" id="{D9446FB8-A075-3B47-EB0B-600F53E9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A55D803-EF5B-623C-1A12-CBA1FD7B8436}"/>
              </a:ext>
            </a:extLst>
          </p:cNvPr>
          <p:cNvSpPr/>
          <p:nvPr/>
        </p:nvSpPr>
        <p:spPr>
          <a:xfrm>
            <a:off x="9275350" y="7431037"/>
            <a:ext cx="13615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7CB654-9CAA-7564-CC22-BD8CAE795EBE}"/>
              </a:ext>
            </a:extLst>
          </p:cNvPr>
          <p:cNvSpPr/>
          <p:nvPr/>
        </p:nvSpPr>
        <p:spPr>
          <a:xfrm>
            <a:off x="9275350" y="5401641"/>
            <a:ext cx="13615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削除内容を</a:t>
            </a: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FA40CBC-E2E2-F8AB-79F3-ED8BB0113C69}"/>
              </a:ext>
            </a:extLst>
          </p:cNvPr>
          <p:cNvCxnSpPr>
            <a:cxnSpLocks/>
            <a:stCxn id="19" idx="3"/>
            <a:endCxn id="34" idx="1"/>
          </p:cNvCxnSpPr>
          <p:nvPr/>
        </p:nvCxnSpPr>
        <p:spPr>
          <a:xfrm>
            <a:off x="8640697" y="7997094"/>
            <a:ext cx="63465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FEF8397-D2E0-4575-3F9A-2239729FD173}"/>
              </a:ext>
            </a:extLst>
          </p:cNvPr>
          <p:cNvCxnSpPr>
            <a:cxnSpLocks/>
            <a:stCxn id="34" idx="0"/>
            <a:endCxn id="3" idx="2"/>
          </p:cNvCxnSpPr>
          <p:nvPr/>
        </p:nvCxnSpPr>
        <p:spPr>
          <a:xfrm flipV="1">
            <a:off x="9956148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899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EA8E-B711-ACD4-86B1-DADF1283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0CD796A-9012-A381-99A1-2D6B2786B363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C079D9E6-0060-F535-0EBA-67A449B29E75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8CADEDE-9258-6CCA-B51E-E060411E3ADE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8CFF9D7-A72A-EDCC-48FC-26BC3B613254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82E45A-D5D7-301D-3588-35D9B800E710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175DBC-CBDB-F1A9-A644-191E3157EB73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167610B-90EC-5697-3EBC-05D39EF0A270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761173-6BDB-BE61-F052-5D0515FD3103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FFA09C-5CA7-A73E-81C7-B43723467C46}"/>
              </a:ext>
            </a:extLst>
          </p:cNvPr>
          <p:cNvSpPr/>
          <p:nvPr/>
        </p:nvSpPr>
        <p:spPr>
          <a:xfrm>
            <a:off x="3150904" y="5401641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メンバーを選択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918ABCD-1BD0-D2BF-00F5-77B88107EADE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4813299" y="5967698"/>
            <a:ext cx="59420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90287E2-0CD1-73F5-FA3B-CF52B4C6C112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研修出欠登録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B03289-ED5A-4734-39AC-F62B22B2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D7BAD53-5BD1-1B3B-5BB7-3A91B790C683}"/>
              </a:ext>
            </a:extLst>
          </p:cNvPr>
          <p:cNvSpPr/>
          <p:nvPr/>
        </p:nvSpPr>
        <p:spPr>
          <a:xfrm>
            <a:off x="5407504" y="5401641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出欠を入力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17859E-5D7E-638E-F59F-E43C0AF61869}"/>
              </a:ext>
            </a:extLst>
          </p:cNvPr>
          <p:cNvSpPr/>
          <p:nvPr/>
        </p:nvSpPr>
        <p:spPr>
          <a:xfrm>
            <a:off x="5407504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指定のレコードの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出欠を登録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4087F5-3CC2-3B55-1572-13D5F50325CF}"/>
              </a:ext>
            </a:extLst>
          </p:cNvPr>
          <p:cNvSpPr/>
          <p:nvPr/>
        </p:nvSpPr>
        <p:spPr>
          <a:xfrm>
            <a:off x="7772724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完了を表示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19695D1-3B90-BB9B-22BB-11ACC3AAF2C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238702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25D227C4-BCB9-F674-C56B-800CE352DD2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69899" y="7997094"/>
            <a:ext cx="7028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C0350AA-99E3-B15A-5995-E52A80ABB5BC}"/>
              </a:ext>
            </a:extLst>
          </p:cNvPr>
          <p:cNvSpPr/>
          <p:nvPr/>
        </p:nvSpPr>
        <p:spPr>
          <a:xfrm>
            <a:off x="7772724" y="5466955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完了を確認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E41D6A3-920D-BE25-28D1-68DF47E697B0}"/>
              </a:ext>
            </a:extLst>
          </p:cNvPr>
          <p:cNvCxnSpPr>
            <a:cxnSpLocks/>
            <a:stCxn id="7" idx="0"/>
            <a:endCxn id="20" idx="2"/>
          </p:cNvCxnSpPr>
          <p:nvPr/>
        </p:nvCxnSpPr>
        <p:spPr>
          <a:xfrm flipV="1">
            <a:off x="8603922" y="6599069"/>
            <a:ext cx="0" cy="83196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387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790F-6E04-400C-6BA0-E087F026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F8A8DB1-E37C-5F99-E7B4-BBC646BAC8C9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6823E86-7D2C-F076-B1FF-BDD07278E02D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11B6B50-5C5F-3E36-DE58-953271708A8F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339FC90-6B52-83D4-4D7D-2AEAFF21A62F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6A6CE71-9419-1F75-931C-65CBD729D891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162E4C7-CB83-DBBC-D90C-075FA14385C8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3C47D7-DBF4-7034-107E-97D69E9B23EA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EF402F9-A0C7-F28E-83EC-F806190244E4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9B1A538-8F8D-5D01-78E2-9E8F701AD153}"/>
              </a:ext>
            </a:extLst>
          </p:cNvPr>
          <p:cNvSpPr/>
          <p:nvPr/>
        </p:nvSpPr>
        <p:spPr>
          <a:xfrm>
            <a:off x="3150904" y="5401641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編集をクリック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27DE228-3725-36FB-43CA-5796FC38EB10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4813299" y="5967698"/>
            <a:ext cx="59420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CBC18A2-D290-58C3-CE88-2432D8D01C8F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出欠登録編集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38E7CDF-1571-B33D-4601-08385727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917276-F84B-66EA-7171-6D2E46EF4EE6}"/>
              </a:ext>
            </a:extLst>
          </p:cNvPr>
          <p:cNvSpPr/>
          <p:nvPr/>
        </p:nvSpPr>
        <p:spPr>
          <a:xfrm>
            <a:off x="5407504" y="5401641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変更内容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を入力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670E354-FA64-A4D8-07A7-22F0285D4149}"/>
              </a:ext>
            </a:extLst>
          </p:cNvPr>
          <p:cNvSpPr/>
          <p:nvPr/>
        </p:nvSpPr>
        <p:spPr>
          <a:xfrm>
            <a:off x="5407504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指定のレコードの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出欠を登録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E2F865-3A7A-CC64-1CE8-6C5244C52AF8}"/>
              </a:ext>
            </a:extLst>
          </p:cNvPr>
          <p:cNvSpPr/>
          <p:nvPr/>
        </p:nvSpPr>
        <p:spPr>
          <a:xfrm>
            <a:off x="7772724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結果を表示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B9ADB14-2580-493A-4BBD-A7FCCCF1399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238702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7ABA31-2212-E6A4-14D8-50C2121F2EAE}"/>
              </a:ext>
            </a:extLst>
          </p:cNvPr>
          <p:cNvSpPr/>
          <p:nvPr/>
        </p:nvSpPr>
        <p:spPr>
          <a:xfrm>
            <a:off x="7772723" y="5436295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結果を確認可能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25457491-CA4B-8A1D-D14C-B3CF2375D04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69899" y="7997094"/>
            <a:ext cx="7028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F14B265-2D57-1923-AE18-1605F64025C6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H="1" flipV="1">
            <a:off x="8603921" y="6568409"/>
            <a:ext cx="1" cy="86262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15">
            <a:extLst>
              <a:ext uri="{FF2B5EF4-FFF2-40B4-BE49-F238E27FC236}">
                <a16:creationId xmlns:a16="http://schemas.microsoft.com/office/drawing/2014/main" id="{416DF887-84BC-86E5-D7CF-ED750A56313D}"/>
              </a:ext>
            </a:extLst>
          </p:cNvPr>
          <p:cNvSpPr/>
          <p:nvPr/>
        </p:nvSpPr>
        <p:spPr>
          <a:xfrm>
            <a:off x="1420668" y="9039957"/>
            <a:ext cx="10370890" cy="8004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altLang="en-US" sz="1600">
                <a:solidFill>
                  <a:srgbClr val="00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メリット：</a:t>
            </a:r>
            <a:r>
              <a:rPr lang="ja-JP" altLang="en-US" sz="1600">
                <a:latin typeface="Noto Sans JP" panose="020B0200000000000000" pitchFamily="50" charset="-128"/>
                <a:ea typeface="Noto Sans JP" panose="020B0200000000000000" pitchFamily="50" charset="-128"/>
              </a:rPr>
              <a:t>上長がExcel→管理者がシステムへの登録という、媒体が異なることによる手間を省ける。</a:t>
            </a:r>
            <a:endParaRPr lang="en-US" altLang="ja-JP" sz="16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8308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17E7F-7380-B657-A58D-2557C073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6F4FC22-7ECA-8EA7-7BA0-4D2CE907BB30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26495D5-C5D2-42C0-D508-FE68AB8DC718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02543AE-424F-F83A-251D-285AB6EA2F6F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7FD4160-2F8A-0248-C925-1FBAE93973F2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C7DD263-1052-1B2A-E0BD-0DDA49E27753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957CC1-73F8-E4D6-949A-3FF489501D8F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DA484ED-2BB4-7D95-4645-DFDEC2EFD765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95B00EE-A04D-C26D-55C9-7CA186AD7BAC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3FD77F4-7A5A-6F31-31B0-3E3F5799BA37}"/>
              </a:ext>
            </a:extLst>
          </p:cNvPr>
          <p:cNvSpPr/>
          <p:nvPr/>
        </p:nvSpPr>
        <p:spPr>
          <a:xfrm>
            <a:off x="3150905" y="5401641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メンバー情報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を入力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8085AAA-EB8D-3394-36CC-A5C1245BD815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>
          <a:xfrm>
            <a:off x="3899552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F015898-1D7C-A258-8A0D-50ED9BCAED1E}"/>
              </a:ext>
            </a:extLst>
          </p:cNvPr>
          <p:cNvSpPr txBox="1"/>
          <p:nvPr/>
        </p:nvSpPr>
        <p:spPr>
          <a:xfrm>
            <a:off x="359114" y="270690"/>
            <a:ext cx="3438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メンバー登録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7EF47AE-B8D9-D121-3D7F-33156E85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5169B3-2D38-A6BC-1AA6-ECBA397F04E5}"/>
              </a:ext>
            </a:extLst>
          </p:cNvPr>
          <p:cNvSpPr/>
          <p:nvPr/>
        </p:nvSpPr>
        <p:spPr>
          <a:xfrm>
            <a:off x="3150905" y="7431037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メンバー情報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を登録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FEB68D0-B306-DF99-7FBD-1C6BD5EDECBA}"/>
              </a:ext>
            </a:extLst>
          </p:cNvPr>
          <p:cNvSpPr/>
          <p:nvPr/>
        </p:nvSpPr>
        <p:spPr>
          <a:xfrm>
            <a:off x="5396846" y="7431037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074B1-7C3E-98A0-69AA-2727D102A2D0}"/>
              </a:ext>
            </a:extLst>
          </p:cNvPr>
          <p:cNvSpPr/>
          <p:nvPr/>
        </p:nvSpPr>
        <p:spPr>
          <a:xfrm>
            <a:off x="5396846" y="5401641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11A7409-F0A9-3CA5-EB61-DE79E2C03CC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648199" y="7997094"/>
            <a:ext cx="74864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7F655018-8CBA-6AE7-BDE0-B4A7F97F83E3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145493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2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F13A7-83EC-94BF-B10E-1B897B0A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1D7934C-9851-9E6D-41C9-D759D3034897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E19BCDB-FA22-F58B-6D1E-0017EA444657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8EC8B57-046C-869D-D12D-9EA2254DC0AF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4FC5B82-457A-BD59-1AB1-F55E7522380A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9FC130-8657-8ECA-61AE-7CADE49B8131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49B5241-8CCB-C18F-065A-FF2636D2284D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A1AFFF7-98E4-FDC2-402C-F93098B9212B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FCAD79-945B-1D51-0B1B-8A3B09968C15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C2BE7E-45E3-97FA-8BDF-7EC48BFE2B6C}"/>
              </a:ext>
            </a:extLst>
          </p:cNvPr>
          <p:cNvSpPr/>
          <p:nvPr/>
        </p:nvSpPr>
        <p:spPr>
          <a:xfrm>
            <a:off x="3150905" y="5401641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メンバー編集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2BE4423-FF6C-38C1-D2A5-48344D94FB32}"/>
              </a:ext>
            </a:extLst>
          </p:cNvPr>
          <p:cNvCxnSpPr>
            <a:cxnSpLocks/>
            <a:stCxn id="15" idx="3"/>
            <a:endCxn id="4" idx="1"/>
          </p:cNvCxnSpPr>
          <p:nvPr/>
        </p:nvCxnSpPr>
        <p:spPr>
          <a:xfrm>
            <a:off x="4648199" y="5967698"/>
            <a:ext cx="53833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3321B45-457F-15AF-0157-0CF603EF7F44}"/>
              </a:ext>
            </a:extLst>
          </p:cNvPr>
          <p:cNvSpPr txBox="1"/>
          <p:nvPr/>
        </p:nvSpPr>
        <p:spPr>
          <a:xfrm>
            <a:off x="359114" y="270690"/>
            <a:ext cx="3438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メンバー編集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395AAF-139A-FCF3-3019-55FC56F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FEC263-2D05-B262-21A8-1D9460F69F1D}"/>
              </a:ext>
            </a:extLst>
          </p:cNvPr>
          <p:cNvSpPr/>
          <p:nvPr/>
        </p:nvSpPr>
        <p:spPr>
          <a:xfrm>
            <a:off x="5186534" y="5401641"/>
            <a:ext cx="217946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メンバーを選択後、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情報記載ページへ遷移。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編集内容を入力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83BACA9-CF27-5AC6-EF6E-430C4A7A9B4A}"/>
              </a:ext>
            </a:extLst>
          </p:cNvPr>
          <p:cNvSpPr/>
          <p:nvPr/>
        </p:nvSpPr>
        <p:spPr>
          <a:xfrm>
            <a:off x="5494055" y="7431037"/>
            <a:ext cx="156442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メンバー情報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を更新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BC429A2-EB15-0F59-352D-42557CE103A2}"/>
              </a:ext>
            </a:extLst>
          </p:cNvPr>
          <p:cNvSpPr/>
          <p:nvPr/>
        </p:nvSpPr>
        <p:spPr>
          <a:xfrm>
            <a:off x="7763727" y="7431037"/>
            <a:ext cx="156442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変更内容を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42ABB79-A28B-D66F-EF31-BD38239EA93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276267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FE02758-6E3D-FFF8-1B18-8023BA2D230E}"/>
              </a:ext>
            </a:extLst>
          </p:cNvPr>
          <p:cNvSpPr/>
          <p:nvPr/>
        </p:nvSpPr>
        <p:spPr>
          <a:xfrm>
            <a:off x="7763727" y="5401641"/>
            <a:ext cx="1564423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変更内容を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AF60A28-C5A2-83E0-6729-72D05060B41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58478" y="7997094"/>
            <a:ext cx="70524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1EC8AC5B-36B7-0CB6-31F0-61189E39E25C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8545939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974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4F49-EC2A-5920-40FC-9F2E34C5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76EFBAC-1512-D14D-310D-E52F7523A696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B4332BF-CC21-8FA5-F68F-F6115565F72A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D68C74D-ACA5-DBB4-5FA7-DA8D7EF36B26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719BAA6-62B1-C783-5527-3C19D18B2285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3A7104F-6427-A8FB-5A21-5226DFDACC0D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825B384-E721-59A6-8E3B-42DE35F8FB5E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F4C22E-524F-5C3A-AD94-4EAD9BC3ECE3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A992547-84AA-FCF8-9BF6-49321685BA3B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D824924-4023-5A35-9C02-8AD0B75DC11B}"/>
              </a:ext>
            </a:extLst>
          </p:cNvPr>
          <p:cNvSpPr/>
          <p:nvPr/>
        </p:nvSpPr>
        <p:spPr>
          <a:xfrm>
            <a:off x="3150904" y="5401641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メンバー削除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ボタンをクリック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D2B4BB6-A980-7DC2-D353-970439720DA4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4813299" y="5967698"/>
            <a:ext cx="59420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F3C1B3E-4203-5577-AA0C-1602E02B9E3F}"/>
              </a:ext>
            </a:extLst>
          </p:cNvPr>
          <p:cNvSpPr txBox="1"/>
          <p:nvPr/>
        </p:nvSpPr>
        <p:spPr>
          <a:xfrm>
            <a:off x="359114" y="270690"/>
            <a:ext cx="279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メンバー削除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2E05D87-B632-FB52-BFEE-1AFE2CA7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B34EE52-C356-010D-4F59-EEC29EE2A115}"/>
              </a:ext>
            </a:extLst>
          </p:cNvPr>
          <p:cNvSpPr/>
          <p:nvPr/>
        </p:nvSpPr>
        <p:spPr>
          <a:xfrm>
            <a:off x="5407504" y="5401641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削除するメンバー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B6F466B-21C6-0852-F182-BB8305F803F9}"/>
              </a:ext>
            </a:extLst>
          </p:cNvPr>
          <p:cNvSpPr/>
          <p:nvPr/>
        </p:nvSpPr>
        <p:spPr>
          <a:xfrm>
            <a:off x="5407504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メンバーを削除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608FE0-3CE2-0121-3DEC-10D8CE8BCCB3}"/>
              </a:ext>
            </a:extLst>
          </p:cNvPr>
          <p:cNvSpPr/>
          <p:nvPr/>
        </p:nvSpPr>
        <p:spPr>
          <a:xfrm>
            <a:off x="7772724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3419892-BFBB-1273-B710-CAB39DAB17C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238702" y="6533755"/>
            <a:ext cx="0" cy="8972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A9AD53F-0155-82ED-B497-AAE6A589670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69899" y="7997094"/>
            <a:ext cx="7028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82D9BF9-2549-56B3-915A-4A30AAB70A95}"/>
              </a:ext>
            </a:extLst>
          </p:cNvPr>
          <p:cNvSpPr/>
          <p:nvPr/>
        </p:nvSpPr>
        <p:spPr>
          <a:xfrm>
            <a:off x="7772724" y="5436295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削除内容を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E69BDD48-0C2D-AA90-A36E-483D192BC1D8}"/>
              </a:ext>
            </a:extLst>
          </p:cNvPr>
          <p:cNvCxnSpPr>
            <a:cxnSpLocks/>
            <a:stCxn id="7" idx="0"/>
            <a:endCxn id="22" idx="2"/>
          </p:cNvCxnSpPr>
          <p:nvPr/>
        </p:nvCxnSpPr>
        <p:spPr>
          <a:xfrm flipV="1">
            <a:off x="8603922" y="6568409"/>
            <a:ext cx="0" cy="86262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116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866C-A112-3D7A-8897-92079490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8662FD7-49AD-A737-7361-F77E17263065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270AA73-3444-AB44-51F8-1C3D9BA4EF66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5027A71-5BAF-A76A-7B09-40789AA6D7CC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74889B7-DB97-1617-9169-04CDE92738EE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EC5B2E0-F53F-F330-2F86-FD7244BD49BF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BCE951-E14A-0A25-CD37-F8F69DAA8570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C20AAB8-CB6B-5B52-F33E-D344F58A828E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640295-0F9C-180D-BAE3-C4292C1EC5AB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5BBE338-63D5-1D2F-7E1B-E5C8C16D2412}"/>
              </a:ext>
            </a:extLst>
          </p:cNvPr>
          <p:cNvSpPr/>
          <p:nvPr/>
        </p:nvSpPr>
        <p:spPr>
          <a:xfrm>
            <a:off x="3150905" y="5401641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メンバー一覧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を選択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7E09FDD-C1C4-A4F8-8F49-8628E58A4513}"/>
              </a:ext>
            </a:extLst>
          </p:cNvPr>
          <p:cNvCxnSpPr>
            <a:cxnSpLocks/>
            <a:stCxn id="15" idx="3"/>
            <a:endCxn id="4" idx="1"/>
          </p:cNvCxnSpPr>
          <p:nvPr/>
        </p:nvCxnSpPr>
        <p:spPr>
          <a:xfrm>
            <a:off x="4648199" y="5967698"/>
            <a:ext cx="594205" cy="5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DF6C45A-C3BE-EA7C-FA37-3B7A37DA9065}"/>
              </a:ext>
            </a:extLst>
          </p:cNvPr>
          <p:cNvSpPr txBox="1"/>
          <p:nvPr/>
        </p:nvSpPr>
        <p:spPr>
          <a:xfrm>
            <a:off x="359114" y="270690"/>
            <a:ext cx="4289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メンバー閲覧での検索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8505601-E90D-5C7C-7358-CFE82C45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8BA640-3F36-86FD-7D5A-48A336050C86}"/>
              </a:ext>
            </a:extLst>
          </p:cNvPr>
          <p:cNvSpPr/>
          <p:nvPr/>
        </p:nvSpPr>
        <p:spPr>
          <a:xfrm>
            <a:off x="5242404" y="5407595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並び替え・絞り込み等を選択して検</a:t>
            </a:r>
            <a:r>
              <a:rPr kumimoji="1" lang="ja-JP" altLang="en-US" sz="1400" dirty="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索ボタン</a:t>
            </a:r>
            <a:endParaRPr kumimoji="1" lang="en-US" altLang="ja-JP" sz="14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38E95E8-6F15-C7CF-8EE5-C9EBCABB39BE}"/>
              </a:ext>
            </a:extLst>
          </p:cNvPr>
          <p:cNvSpPr/>
          <p:nvPr/>
        </p:nvSpPr>
        <p:spPr>
          <a:xfrm>
            <a:off x="5242404" y="7431037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並び替え・</a:t>
            </a:r>
            <a:endParaRPr lang="ja-JP" altLang="en-US" sz="1400" dirty="0">
              <a:solidFill>
                <a:schemeClr val="tx1"/>
              </a:solidFill>
              <a:latin typeface="Noto Sans JP" panose="020B0200000000000000" pitchFamily="50" charset="-128"/>
              <a:ea typeface="Noto Sans JP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/>
              </a:rPr>
              <a:t>絞り込み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573DB3E-4E8F-FE98-89E0-8ACAAFFFD2D4}"/>
              </a:ext>
            </a:extLst>
          </p:cNvPr>
          <p:cNvSpPr/>
          <p:nvPr/>
        </p:nvSpPr>
        <p:spPr>
          <a:xfrm>
            <a:off x="7488345" y="7431037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別ウィンドウで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情報を表示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69F5774-292E-F5A9-AFAB-30D6895AF53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991051" y="6539709"/>
            <a:ext cx="0" cy="89132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5C1713D-6B3F-897A-E263-9D4917974F0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739698" y="7997094"/>
            <a:ext cx="74864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CEA9213-E31E-8823-6B33-FD41476B0BE5}"/>
              </a:ext>
            </a:extLst>
          </p:cNvPr>
          <p:cNvSpPr/>
          <p:nvPr/>
        </p:nvSpPr>
        <p:spPr>
          <a:xfrm>
            <a:off x="7475623" y="5418759"/>
            <a:ext cx="1497294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確認可能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B93C2253-959C-A316-58BC-FB60FD2B25B6}"/>
              </a:ext>
            </a:extLst>
          </p:cNvPr>
          <p:cNvCxnSpPr>
            <a:cxnSpLocks/>
            <a:stCxn id="6" idx="0"/>
            <a:endCxn id="21" idx="2"/>
          </p:cNvCxnSpPr>
          <p:nvPr/>
        </p:nvCxnSpPr>
        <p:spPr>
          <a:xfrm flipH="1" flipV="1">
            <a:off x="8224270" y="6550873"/>
            <a:ext cx="12722" cy="8801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319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6559F4-27F2-D2C2-AD1C-04C65A08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7430168-2B6E-2596-99C5-94768735E8B3}"/>
              </a:ext>
            </a:extLst>
          </p:cNvPr>
          <p:cNvSpPr/>
          <p:nvPr/>
        </p:nvSpPr>
        <p:spPr>
          <a:xfrm>
            <a:off x="1407659" y="994507"/>
            <a:ext cx="10392682" cy="1828799"/>
          </a:xfrm>
          <a:prstGeom prst="roundRect">
            <a:avLst/>
          </a:prstGeom>
          <a:solidFill>
            <a:srgbClr val="DFF5F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80EE061-0942-32C8-1583-1CA888B34417}"/>
              </a:ext>
            </a:extLst>
          </p:cNvPr>
          <p:cNvSpPr/>
          <p:nvPr/>
        </p:nvSpPr>
        <p:spPr>
          <a:xfrm>
            <a:off x="1407659" y="3023903"/>
            <a:ext cx="10392682" cy="1828799"/>
          </a:xfrm>
          <a:prstGeom prst="roundRect">
            <a:avLst/>
          </a:prstGeom>
          <a:solidFill>
            <a:srgbClr val="E1E1E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66C4FDB-0F48-A799-C8C4-8CFAF4A85F93}"/>
              </a:ext>
            </a:extLst>
          </p:cNvPr>
          <p:cNvSpPr/>
          <p:nvPr/>
        </p:nvSpPr>
        <p:spPr>
          <a:xfrm>
            <a:off x="1407659" y="5053299"/>
            <a:ext cx="10392682" cy="1828799"/>
          </a:xfrm>
          <a:prstGeom prst="roundRect">
            <a:avLst/>
          </a:prstGeom>
          <a:solidFill>
            <a:srgbClr val="ECFADC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7493B7C-0B84-FB37-8845-DC0A823F290B}"/>
              </a:ext>
            </a:extLst>
          </p:cNvPr>
          <p:cNvSpPr/>
          <p:nvPr/>
        </p:nvSpPr>
        <p:spPr>
          <a:xfrm>
            <a:off x="1407659" y="7082695"/>
            <a:ext cx="10392682" cy="1828799"/>
          </a:xfrm>
          <a:prstGeom prst="roundRect">
            <a:avLst/>
          </a:prstGeom>
          <a:solidFill>
            <a:srgbClr val="FFE6D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81B30F-29B4-0587-4A74-35EE38C0CCA7}"/>
              </a:ext>
            </a:extLst>
          </p:cNvPr>
          <p:cNvSpPr txBox="1"/>
          <p:nvPr/>
        </p:nvSpPr>
        <p:spPr>
          <a:xfrm>
            <a:off x="1509486" y="1678073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DD57E6-68A6-4836-009E-24F2DFAAC75E}"/>
              </a:ext>
            </a:extLst>
          </p:cNvPr>
          <p:cNvSpPr txBox="1"/>
          <p:nvPr/>
        </p:nvSpPr>
        <p:spPr>
          <a:xfrm>
            <a:off x="1509486" y="3707469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上長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420718A-004D-5100-60E7-499949826A00}"/>
              </a:ext>
            </a:extLst>
          </p:cNvPr>
          <p:cNvSpPr txBox="1"/>
          <p:nvPr/>
        </p:nvSpPr>
        <p:spPr>
          <a:xfrm>
            <a:off x="1509485" y="5736865"/>
            <a:ext cx="110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管理者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3104BB-0FB5-3200-E295-3E0A8B0368BE}"/>
              </a:ext>
            </a:extLst>
          </p:cNvPr>
          <p:cNvSpPr txBox="1"/>
          <p:nvPr/>
        </p:nvSpPr>
        <p:spPr>
          <a:xfrm>
            <a:off x="1407659" y="7766262"/>
            <a:ext cx="1407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B5138D1-E807-7BBF-0AD4-58773C19C585}"/>
              </a:ext>
            </a:extLst>
          </p:cNvPr>
          <p:cNvSpPr/>
          <p:nvPr/>
        </p:nvSpPr>
        <p:spPr>
          <a:xfrm>
            <a:off x="2994149" y="1342849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マイページ・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ログイン画面から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再設定が可能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5DC48EE-754A-C9A7-0F69-FC0DAE79D368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3825347" y="2474963"/>
            <a:ext cx="0" cy="49560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9E7E29A-FA00-CA57-4F8E-D9DAEF534EEF}"/>
              </a:ext>
            </a:extLst>
          </p:cNvPr>
          <p:cNvSpPr txBox="1"/>
          <p:nvPr/>
        </p:nvSpPr>
        <p:spPr>
          <a:xfrm>
            <a:off x="359114" y="270690"/>
            <a:ext cx="3063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パスワード再設定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0C48F80-FD01-A33F-9E1B-E2811CAB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7697-2A9E-45BD-927F-6D4D99402D36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4E75E1-90B5-4046-9A85-80D74C234780}"/>
              </a:ext>
            </a:extLst>
          </p:cNvPr>
          <p:cNvSpPr/>
          <p:nvPr/>
        </p:nvSpPr>
        <p:spPr>
          <a:xfrm>
            <a:off x="2994149" y="7431037"/>
            <a:ext cx="1662395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</a:t>
            </a:r>
            <a:r>
              <a:rPr kumimoji="1" lang="en-US" altLang="ja-JP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メールアドレスで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アカウント検索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13B74D-D1DE-1632-09DE-2D06E37CD793}"/>
              </a:ext>
            </a:extLst>
          </p:cNvPr>
          <p:cNvSpPr/>
          <p:nvPr/>
        </p:nvSpPr>
        <p:spPr>
          <a:xfrm>
            <a:off x="5270091" y="1342849"/>
            <a:ext cx="16623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メールが届き、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再設定を行う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244BB158-21ED-3056-4575-7EFFB0C8CCA6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4656544" y="2474963"/>
            <a:ext cx="1444745" cy="5522131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0AA48CD-A241-55EC-110D-679B53C3B877}"/>
              </a:ext>
            </a:extLst>
          </p:cNvPr>
          <p:cNvSpPr/>
          <p:nvPr/>
        </p:nvSpPr>
        <p:spPr>
          <a:xfrm>
            <a:off x="7288419" y="7431037"/>
            <a:ext cx="1662396" cy="113211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パスワードを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変更する</a:t>
            </a:r>
            <a:endParaRPr kumimoji="1" lang="en-US" altLang="ja-JP" sz="140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6E92CEBE-02D5-FCAD-B22F-3C06DAC60E05}"/>
              </a:ext>
            </a:extLst>
          </p:cNvPr>
          <p:cNvCxnSpPr>
            <a:cxnSpLocks/>
            <a:stCxn id="7" idx="3"/>
            <a:endCxn id="16" idx="0"/>
          </p:cNvCxnSpPr>
          <p:nvPr/>
        </p:nvCxnSpPr>
        <p:spPr>
          <a:xfrm>
            <a:off x="6932487" y="1908906"/>
            <a:ext cx="1187130" cy="5522131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416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776255-4a08-4403-a806-e9df889f165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1CFD4E25EF51A40997B85EE992EF575" ma:contentTypeVersion="5" ma:contentTypeDescription="新しいドキュメントを作成します。" ma:contentTypeScope="" ma:versionID="a1960491a1d19b1f920846e68d04291f">
  <xsd:schema xmlns:xsd="http://www.w3.org/2001/XMLSchema" xmlns:xs="http://www.w3.org/2001/XMLSchema" xmlns:p="http://schemas.microsoft.com/office/2006/metadata/properties" xmlns:ns3="78776255-4a08-4403-a806-e9df889f1656" targetNamespace="http://schemas.microsoft.com/office/2006/metadata/properties" ma:root="true" ma:fieldsID="62461d910d4d44e083166f9bd3eb160c" ns3:_="">
    <xsd:import namespace="78776255-4a08-4403-a806-e9df889f165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76255-4a08-4403-a806-e9df889f165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C35B58-CB19-4FBB-995B-B9B44EE60583}">
  <ds:schemaRefs>
    <ds:schemaRef ds:uri="78776255-4a08-4403-a806-e9df889f165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C83CDF-2497-4A80-BDBA-BA6F2E5E1B45}">
  <ds:schemaRefs>
    <ds:schemaRef ds:uri="78776255-4a08-4403-a806-e9df889f16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A4F779-5C4B-4CBF-ADDA-458ED6EA9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1375</Words>
  <Application>Microsoft Office PowerPoint</Application>
  <PresentationFormat>ユーザー設定</PresentationFormat>
  <Paragraphs>390</Paragraphs>
  <Slides>25</Slides>
  <Notes>16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1" baseType="lpstr">
      <vt:lpstr>Noto Sans JP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AT235</dc:creator>
  <cp:lastModifiedBy>AT235</cp:lastModifiedBy>
  <cp:revision>9</cp:revision>
  <dcterms:created xsi:type="dcterms:W3CDTF">2026-06-30T02:14:56Z</dcterms:created>
  <dcterms:modified xsi:type="dcterms:W3CDTF">2026-07-02T02:00:52Z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0x01010021CFD4E25EF51A40997B85EE992EF575</vt:lpwstr>
  </property>
</Properties>
</file>