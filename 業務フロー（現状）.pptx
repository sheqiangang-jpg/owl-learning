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9" r:id="rId5"/>
    <p:sldId id="267" r:id="rId6"/>
    <p:sldId id="283" r:id="rId7"/>
    <p:sldId id="284" r:id="rId8"/>
    <p:sldId id="285" r:id="rId9"/>
    <p:sldId id="265" r:id="rId10"/>
    <p:sldId id="286" r:id="rId11"/>
    <p:sldId id="28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91F104-8AB0-5DB4-86E2-5C69C1564F43}" v="29" dt="2026-07-02T00:33:23.015"/>
    <p1510:client id="{B5197589-B4BC-FC78-5B93-4A90C526AF59}" v="59" dt="2026-07-02T00:38:21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0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AC69C-B1C4-4C6D-98C5-8049FDD8AAD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4821-AD02-44F0-B5C9-4140E5E5E1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95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44821-AD02-44F0-B5C9-4140E5E5E1F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1472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44821-AD02-44F0-B5C9-4140E5E5E1F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920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61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66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85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036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425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95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160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233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120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4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662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930D0-D27A-4967-B720-EF82B6F9E58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6AB86-0684-443E-AD23-60E8F5047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956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1A9EC9-7781-C84A-46FD-315612D22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567709"/>
            <a:ext cx="7772400" cy="942254"/>
          </a:xfrm>
        </p:spPr>
        <p:txBody>
          <a:bodyPr>
            <a:normAutofit/>
          </a:bodyPr>
          <a:lstStyle/>
          <a:p>
            <a:r>
              <a:rPr kumimoji="1" lang="ja-JP" altLang="en-US" sz="4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業務フロー（現状）</a:t>
            </a:r>
          </a:p>
        </p:txBody>
      </p:sp>
    </p:spTree>
    <p:extLst>
      <p:ext uri="{BB962C8B-B14F-4D97-AF65-F5344CB8AC3E}">
        <p14:creationId xmlns:p14="http://schemas.microsoft.com/office/powerpoint/2010/main" val="170692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E47A-5385-300B-CEBA-45EABF6A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A6B1507-0AEE-ED4C-0C44-5930650B16CF}"/>
              </a:ext>
            </a:extLst>
          </p:cNvPr>
          <p:cNvSpPr/>
          <p:nvPr/>
        </p:nvSpPr>
        <p:spPr>
          <a:xfrm>
            <a:off x="974533" y="688505"/>
            <a:ext cx="7194934" cy="1266092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3DA887E-4E65-AF9D-EFBC-F9BF9B9D2E94}"/>
              </a:ext>
            </a:extLst>
          </p:cNvPr>
          <p:cNvSpPr/>
          <p:nvPr/>
        </p:nvSpPr>
        <p:spPr>
          <a:xfrm>
            <a:off x="974533" y="2093471"/>
            <a:ext cx="7194934" cy="1266092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DDDBACB-3289-E9C0-D300-1DDEF94D14E8}"/>
              </a:ext>
            </a:extLst>
          </p:cNvPr>
          <p:cNvSpPr/>
          <p:nvPr/>
        </p:nvSpPr>
        <p:spPr>
          <a:xfrm>
            <a:off x="974533" y="3498438"/>
            <a:ext cx="7194934" cy="1266092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B08DA95-C468-E91E-D4F6-3A289D6F3E1A}"/>
              </a:ext>
            </a:extLst>
          </p:cNvPr>
          <p:cNvSpPr/>
          <p:nvPr/>
        </p:nvSpPr>
        <p:spPr>
          <a:xfrm>
            <a:off x="974533" y="4903404"/>
            <a:ext cx="7194934" cy="1266092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A53FBD-00FE-3B79-0F68-8069694D0B49}"/>
              </a:ext>
            </a:extLst>
          </p:cNvPr>
          <p:cNvSpPr txBox="1"/>
          <p:nvPr/>
        </p:nvSpPr>
        <p:spPr>
          <a:xfrm>
            <a:off x="1045029" y="1161743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4508D1-EB2D-9DDA-16F9-208A4294F5EC}"/>
              </a:ext>
            </a:extLst>
          </p:cNvPr>
          <p:cNvSpPr txBox="1"/>
          <p:nvPr/>
        </p:nvSpPr>
        <p:spPr>
          <a:xfrm>
            <a:off x="1045029" y="2566709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C6FEC38-9E58-8DCC-1E55-2C181572CC88}"/>
              </a:ext>
            </a:extLst>
          </p:cNvPr>
          <p:cNvSpPr txBox="1"/>
          <p:nvPr/>
        </p:nvSpPr>
        <p:spPr>
          <a:xfrm>
            <a:off x="1045029" y="3971676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68A14F2-0A88-6107-CF51-0836EE948DB9}"/>
              </a:ext>
            </a:extLst>
          </p:cNvPr>
          <p:cNvSpPr txBox="1"/>
          <p:nvPr/>
        </p:nvSpPr>
        <p:spPr>
          <a:xfrm>
            <a:off x="974534" y="5376643"/>
            <a:ext cx="974691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8F815B4-AED0-1869-903B-67CFD669F9DD}"/>
              </a:ext>
            </a:extLst>
          </p:cNvPr>
          <p:cNvSpPr/>
          <p:nvPr/>
        </p:nvSpPr>
        <p:spPr>
          <a:xfrm>
            <a:off x="2069369" y="2336878"/>
            <a:ext cx="1255722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報告書を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個別メールで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出席者へ送信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A43E3E29-3384-1CAB-7F73-09395D7D298F}"/>
              </a:ext>
            </a:extLst>
          </p:cNvPr>
          <p:cNvCxnSpPr>
            <a:cxnSpLocks/>
            <a:stCxn id="15" idx="3"/>
            <a:endCxn id="6" idx="2"/>
          </p:cNvCxnSpPr>
          <p:nvPr/>
        </p:nvCxnSpPr>
        <p:spPr>
          <a:xfrm flipV="1">
            <a:off x="3325091" y="1713436"/>
            <a:ext cx="470612" cy="1015328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BA0E6D2-4759-EBC5-B4C5-E280F79FF5E5}"/>
              </a:ext>
            </a:extLst>
          </p:cNvPr>
          <p:cNvSpPr txBox="1"/>
          <p:nvPr/>
        </p:nvSpPr>
        <p:spPr>
          <a:xfrm>
            <a:off x="248618" y="187401"/>
            <a:ext cx="2753200" cy="390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38" dirty="0">
                <a:latin typeface="Noto Sans JP" panose="020B0200000000000000" pitchFamily="50" charset="-128"/>
                <a:ea typeface="Noto Sans JP" panose="020B0200000000000000" pitchFamily="50" charset="-128"/>
              </a:rPr>
              <a:t>研修報告書の提出状況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B6F61E4-EA7E-B674-34C2-9C1547C5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2</a:t>
            </a:fld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A6B3AE5-B4BF-DBC7-819E-5FC5D2F0563F}"/>
              </a:ext>
            </a:extLst>
          </p:cNvPr>
          <p:cNvSpPr/>
          <p:nvPr/>
        </p:nvSpPr>
        <p:spPr>
          <a:xfrm>
            <a:off x="3220258" y="929665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報告書記入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F56C5AA-0DD7-094C-BA39-B494B1E86E5F}"/>
              </a:ext>
            </a:extLst>
          </p:cNvPr>
          <p:cNvSpPr/>
          <p:nvPr/>
        </p:nvSpPr>
        <p:spPr>
          <a:xfrm>
            <a:off x="6242280" y="2336878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旧システムへ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BE5557AD-08F8-EB6B-A9C5-93F792D4F309}"/>
              </a:ext>
            </a:extLst>
          </p:cNvPr>
          <p:cNvCxnSpPr>
            <a:cxnSpLocks/>
            <a:stCxn id="5" idx="3"/>
            <a:endCxn id="27" idx="0"/>
          </p:cNvCxnSpPr>
          <p:nvPr/>
        </p:nvCxnSpPr>
        <p:spPr>
          <a:xfrm>
            <a:off x="6146261" y="1321551"/>
            <a:ext cx="671464" cy="101532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39D167E-FC2F-6778-4308-89EA2ED3B790}"/>
              </a:ext>
            </a:extLst>
          </p:cNvPr>
          <p:cNvSpPr/>
          <p:nvPr/>
        </p:nvSpPr>
        <p:spPr>
          <a:xfrm>
            <a:off x="4995372" y="929665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報告書記入後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上長へ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個別メールにて送信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01EC9524-7AF9-EEB4-3049-69E0DD7EEAEB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4371147" y="1321551"/>
            <a:ext cx="6242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43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DC442-B7CE-C202-FE89-F46F8E311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B820165-C679-EF55-17B2-77DE922FCB86}"/>
              </a:ext>
            </a:extLst>
          </p:cNvPr>
          <p:cNvSpPr/>
          <p:nvPr/>
        </p:nvSpPr>
        <p:spPr>
          <a:xfrm>
            <a:off x="974533" y="688505"/>
            <a:ext cx="7194934" cy="1266092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6B70667-B562-2A06-4EFD-88EF466805AE}"/>
              </a:ext>
            </a:extLst>
          </p:cNvPr>
          <p:cNvSpPr/>
          <p:nvPr/>
        </p:nvSpPr>
        <p:spPr>
          <a:xfrm>
            <a:off x="974533" y="2093471"/>
            <a:ext cx="7194934" cy="1266092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E5C1176-EFAD-A2BC-E433-F329CA0F3663}"/>
              </a:ext>
            </a:extLst>
          </p:cNvPr>
          <p:cNvSpPr/>
          <p:nvPr/>
        </p:nvSpPr>
        <p:spPr>
          <a:xfrm>
            <a:off x="974533" y="3498438"/>
            <a:ext cx="7194934" cy="1266092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651EA7F-0195-E63B-8C20-D84D5D06EC16}"/>
              </a:ext>
            </a:extLst>
          </p:cNvPr>
          <p:cNvSpPr/>
          <p:nvPr/>
        </p:nvSpPr>
        <p:spPr>
          <a:xfrm>
            <a:off x="974533" y="4903404"/>
            <a:ext cx="7194934" cy="1266092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4F9472-CFD5-4FEC-B1E6-1F1859F11C70}"/>
              </a:ext>
            </a:extLst>
          </p:cNvPr>
          <p:cNvSpPr txBox="1"/>
          <p:nvPr/>
        </p:nvSpPr>
        <p:spPr>
          <a:xfrm>
            <a:off x="1045029" y="1161743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3FF5A60-AE30-3AEA-B15E-5170BC93B784}"/>
              </a:ext>
            </a:extLst>
          </p:cNvPr>
          <p:cNvSpPr txBox="1"/>
          <p:nvPr/>
        </p:nvSpPr>
        <p:spPr>
          <a:xfrm>
            <a:off x="1045029" y="2566709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F7E65B2-8793-C1CB-6C21-3AF1591AEBBF}"/>
              </a:ext>
            </a:extLst>
          </p:cNvPr>
          <p:cNvSpPr txBox="1"/>
          <p:nvPr/>
        </p:nvSpPr>
        <p:spPr>
          <a:xfrm>
            <a:off x="1045029" y="3971676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48E4D56-C905-A5D6-CFD1-90C7BDE815AE}"/>
              </a:ext>
            </a:extLst>
          </p:cNvPr>
          <p:cNvSpPr txBox="1"/>
          <p:nvPr/>
        </p:nvSpPr>
        <p:spPr>
          <a:xfrm>
            <a:off x="974534" y="5376643"/>
            <a:ext cx="974691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65E91C0-93AF-3698-55C3-C7E1A76B6CF2}"/>
              </a:ext>
            </a:extLst>
          </p:cNvPr>
          <p:cNvSpPr/>
          <p:nvPr/>
        </p:nvSpPr>
        <p:spPr>
          <a:xfrm>
            <a:off x="2069369" y="3739598"/>
            <a:ext cx="1329613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担当者から出欠者の情報を紙で受け取る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CA0EFD3C-56E7-3BD5-5E53-A385F4DBE6BE}"/>
              </a:ext>
            </a:extLst>
          </p:cNvPr>
          <p:cNvCxnSpPr>
            <a:cxnSpLocks/>
            <a:stCxn id="7" idx="3"/>
            <a:endCxn id="6" idx="2"/>
          </p:cNvCxnSpPr>
          <p:nvPr/>
        </p:nvCxnSpPr>
        <p:spPr>
          <a:xfrm flipV="1">
            <a:off x="4975167" y="3143500"/>
            <a:ext cx="260165" cy="987984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04F077C-698A-49A3-AD07-9CDFF89AF7C8}"/>
              </a:ext>
            </a:extLst>
          </p:cNvPr>
          <p:cNvSpPr txBox="1"/>
          <p:nvPr/>
        </p:nvSpPr>
        <p:spPr>
          <a:xfrm>
            <a:off x="248618" y="187401"/>
            <a:ext cx="2753200" cy="390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38" dirty="0">
                <a:latin typeface="Noto Sans JP" panose="020B0200000000000000" pitchFamily="50" charset="-128"/>
                <a:ea typeface="Noto Sans JP" panose="020B0200000000000000" pitchFamily="50" charset="-128"/>
              </a:rPr>
              <a:t>出欠登録編集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8B5ED4F-944F-A4B2-62CC-8C4123EE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ABC498-2358-C798-6941-5DF4136578D2}"/>
              </a:ext>
            </a:extLst>
          </p:cNvPr>
          <p:cNvSpPr/>
          <p:nvPr/>
        </p:nvSpPr>
        <p:spPr>
          <a:xfrm>
            <a:off x="4715673" y="2359729"/>
            <a:ext cx="1039317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</a:t>
            </a:r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を確認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65AB77D-E3E7-97A1-3556-827F51CC5650}"/>
              </a:ext>
            </a:extLst>
          </p:cNvPr>
          <p:cNvSpPr/>
          <p:nvPr/>
        </p:nvSpPr>
        <p:spPr>
          <a:xfrm>
            <a:off x="6818260" y="5133357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登録される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A4B5EB48-D194-5C88-1AD9-A63739B74322}"/>
              </a:ext>
            </a:extLst>
          </p:cNvPr>
          <p:cNvCxnSpPr>
            <a:cxnSpLocks/>
            <a:stCxn id="21" idx="3"/>
            <a:endCxn id="27" idx="0"/>
          </p:cNvCxnSpPr>
          <p:nvPr/>
        </p:nvCxnSpPr>
        <p:spPr>
          <a:xfrm>
            <a:off x="7248610" y="2751614"/>
            <a:ext cx="145095" cy="2381743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A243777-43E9-517D-8324-0676A7B446A7}"/>
              </a:ext>
            </a:extLst>
          </p:cNvPr>
          <p:cNvSpPr/>
          <p:nvPr/>
        </p:nvSpPr>
        <p:spPr>
          <a:xfrm>
            <a:off x="3934690" y="3739598"/>
            <a:ext cx="1040477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情報を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en-US" altLang="ja-JP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</a:t>
            </a:r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へ手入力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D773F30-74BA-CC07-7CD7-7A84DA740AEB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>
            <a:off x="3398982" y="4131484"/>
            <a:ext cx="53570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37FA5F4-ED80-D970-3CE2-5A445FBE7AD6}"/>
              </a:ext>
            </a:extLst>
          </p:cNvPr>
          <p:cNvSpPr/>
          <p:nvPr/>
        </p:nvSpPr>
        <p:spPr>
          <a:xfrm>
            <a:off x="6097721" y="2359728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旧システムへ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出欠状況を登録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2C03736E-6BB0-E8BB-C822-4C8DA903DCDA}"/>
              </a:ext>
            </a:extLst>
          </p:cNvPr>
          <p:cNvCxnSpPr>
            <a:cxnSpLocks/>
            <a:stCxn id="6" idx="3"/>
            <a:endCxn id="21" idx="1"/>
          </p:cNvCxnSpPr>
          <p:nvPr/>
        </p:nvCxnSpPr>
        <p:spPr>
          <a:xfrm flipV="1">
            <a:off x="5754990" y="2751614"/>
            <a:ext cx="342731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72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6C13-6D7C-7694-ADE2-8492F0B2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A9820E9-602E-98D1-0DCF-4EA4DD948BDF}"/>
              </a:ext>
            </a:extLst>
          </p:cNvPr>
          <p:cNvSpPr/>
          <p:nvPr/>
        </p:nvSpPr>
        <p:spPr>
          <a:xfrm>
            <a:off x="974533" y="688505"/>
            <a:ext cx="7194934" cy="1266092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CA6D1640-5C39-53FA-204D-998BCDC5D207}"/>
              </a:ext>
            </a:extLst>
          </p:cNvPr>
          <p:cNvSpPr/>
          <p:nvPr/>
        </p:nvSpPr>
        <p:spPr>
          <a:xfrm>
            <a:off x="974533" y="2093471"/>
            <a:ext cx="7194934" cy="1266092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8D86183-4658-B613-9EB7-D41B9FAD18B2}"/>
              </a:ext>
            </a:extLst>
          </p:cNvPr>
          <p:cNvSpPr/>
          <p:nvPr/>
        </p:nvSpPr>
        <p:spPr>
          <a:xfrm>
            <a:off x="974533" y="3498438"/>
            <a:ext cx="7194934" cy="1266092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E4A297E-1CC9-4533-241F-1A761F8C4308}"/>
              </a:ext>
            </a:extLst>
          </p:cNvPr>
          <p:cNvSpPr/>
          <p:nvPr/>
        </p:nvSpPr>
        <p:spPr>
          <a:xfrm>
            <a:off x="974533" y="4903404"/>
            <a:ext cx="7194934" cy="1266092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9A3E261-4925-9EBB-8305-E7B684B6C7DD}"/>
              </a:ext>
            </a:extLst>
          </p:cNvPr>
          <p:cNvSpPr txBox="1"/>
          <p:nvPr/>
        </p:nvSpPr>
        <p:spPr>
          <a:xfrm>
            <a:off x="1045029" y="1161743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9F67D5A-A00F-F8B3-1087-8EAD591391DE}"/>
              </a:ext>
            </a:extLst>
          </p:cNvPr>
          <p:cNvSpPr txBox="1"/>
          <p:nvPr/>
        </p:nvSpPr>
        <p:spPr>
          <a:xfrm>
            <a:off x="1045029" y="2566709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490CA6-9A69-E4DC-CE31-A0B5A120316A}"/>
              </a:ext>
            </a:extLst>
          </p:cNvPr>
          <p:cNvSpPr txBox="1"/>
          <p:nvPr/>
        </p:nvSpPr>
        <p:spPr>
          <a:xfrm>
            <a:off x="1045029" y="3971676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D70D545-1657-99B2-5143-8C090F26F7F0}"/>
              </a:ext>
            </a:extLst>
          </p:cNvPr>
          <p:cNvSpPr txBox="1"/>
          <p:nvPr/>
        </p:nvSpPr>
        <p:spPr>
          <a:xfrm>
            <a:off x="974534" y="5376643"/>
            <a:ext cx="974691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7EE4834-6721-8D0D-BB78-82BF55DBF0EA}"/>
              </a:ext>
            </a:extLst>
          </p:cNvPr>
          <p:cNvSpPr/>
          <p:nvPr/>
        </p:nvSpPr>
        <p:spPr>
          <a:xfrm>
            <a:off x="2069369" y="3739598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追加したい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研修内容を</a:t>
            </a:r>
            <a:r>
              <a:rPr kumimoji="1" lang="en-US" altLang="ja-JP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</a:t>
            </a:r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に手入力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FF6EE15-46AF-A67C-C26E-37BD6E73AE91}"/>
              </a:ext>
            </a:extLst>
          </p:cNvPr>
          <p:cNvCxnSpPr>
            <a:cxnSpLocks/>
            <a:stCxn id="15" idx="3"/>
            <a:endCxn id="6" idx="1"/>
          </p:cNvCxnSpPr>
          <p:nvPr/>
        </p:nvCxnSpPr>
        <p:spPr>
          <a:xfrm flipV="1">
            <a:off x="3220258" y="4124410"/>
            <a:ext cx="519391" cy="70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6ECBE10-BF1B-9E18-11BA-9A516F9F0B2B}"/>
              </a:ext>
            </a:extLst>
          </p:cNvPr>
          <p:cNvSpPr txBox="1"/>
          <p:nvPr/>
        </p:nvSpPr>
        <p:spPr>
          <a:xfrm>
            <a:off x="248618" y="187401"/>
            <a:ext cx="2753200" cy="390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38" dirty="0">
                <a:latin typeface="Noto Sans JP" panose="020B0200000000000000" pitchFamily="50" charset="-128"/>
                <a:ea typeface="Noto Sans JP" panose="020B0200000000000000" pitchFamily="50" charset="-128"/>
              </a:rPr>
              <a:t>研修編集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486FA63-45E6-82CA-C928-8AF24E76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4</a:t>
            </a:fld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7E3D4A0-DB1F-D03C-7AF9-CBBAE62950EC}"/>
              </a:ext>
            </a:extLst>
          </p:cNvPr>
          <p:cNvSpPr/>
          <p:nvPr/>
        </p:nvSpPr>
        <p:spPr>
          <a:xfrm>
            <a:off x="3739649" y="3732524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編集した</a:t>
            </a:r>
            <a:r>
              <a:rPr kumimoji="1" lang="en-US" altLang="ja-JP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Excel</a:t>
            </a:r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を</a:t>
            </a:r>
            <a:r>
              <a:rPr kumimoji="1" lang="en-US" altLang="ja-JP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PDF</a:t>
            </a:r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化</a:t>
            </a:r>
            <a:endParaRPr lang="ja-JP" altLang="en-US" sz="95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B60C8687-90C9-CA74-E07E-F0794F8DF1FA}"/>
              </a:ext>
            </a:extLst>
          </p:cNvPr>
          <p:cNvSpPr/>
          <p:nvPr/>
        </p:nvSpPr>
        <p:spPr>
          <a:xfrm>
            <a:off x="5532163" y="3776066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950" err="1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PDFを</a:t>
            </a:r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受講生へメール送信</a:t>
            </a:r>
            <a:endParaRPr kumimoji="1" lang="en-US" altLang="ja-JP" sz="95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</p:txBody>
      </p:sp>
      <p:cxnSp>
        <p:nvCxnSpPr>
          <p:cNvPr id="5" name="直線矢印コネクタ 17">
            <a:extLst>
              <a:ext uri="{FF2B5EF4-FFF2-40B4-BE49-F238E27FC236}">
                <a16:creationId xmlns:a16="http://schemas.microsoft.com/office/drawing/2014/main" id="{C6721634-E757-79B2-104A-733AD7F21ACD}"/>
              </a:ext>
            </a:extLst>
          </p:cNvPr>
          <p:cNvCxnSpPr>
            <a:cxnSpLocks/>
          </p:cNvCxnSpPr>
          <p:nvPr/>
        </p:nvCxnSpPr>
        <p:spPr>
          <a:xfrm>
            <a:off x="4896658" y="4116971"/>
            <a:ext cx="642761" cy="1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52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BA7C0-B386-DB13-9275-4EA284AC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AD81859-2AFB-5B3C-BDC4-3980C532F009}"/>
              </a:ext>
            </a:extLst>
          </p:cNvPr>
          <p:cNvSpPr/>
          <p:nvPr/>
        </p:nvSpPr>
        <p:spPr>
          <a:xfrm>
            <a:off x="974533" y="688505"/>
            <a:ext cx="7194934" cy="1266092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B7B0442-ECE2-81C3-0218-FF62524625CD}"/>
              </a:ext>
            </a:extLst>
          </p:cNvPr>
          <p:cNvSpPr/>
          <p:nvPr/>
        </p:nvSpPr>
        <p:spPr>
          <a:xfrm>
            <a:off x="974533" y="2093471"/>
            <a:ext cx="7194934" cy="1266092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9E485F2-5B15-1851-ED81-AA165CD1F082}"/>
              </a:ext>
            </a:extLst>
          </p:cNvPr>
          <p:cNvSpPr/>
          <p:nvPr/>
        </p:nvSpPr>
        <p:spPr>
          <a:xfrm>
            <a:off x="974533" y="3498438"/>
            <a:ext cx="7194934" cy="1266092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A9091F5-6496-322C-8B65-9D73440C040C}"/>
              </a:ext>
            </a:extLst>
          </p:cNvPr>
          <p:cNvSpPr/>
          <p:nvPr/>
        </p:nvSpPr>
        <p:spPr>
          <a:xfrm>
            <a:off x="974533" y="4903404"/>
            <a:ext cx="7194934" cy="1266092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0890A4C-0B46-3F0E-6CB8-C8AF601038DB}"/>
              </a:ext>
            </a:extLst>
          </p:cNvPr>
          <p:cNvSpPr txBox="1"/>
          <p:nvPr/>
        </p:nvSpPr>
        <p:spPr>
          <a:xfrm>
            <a:off x="1045029" y="1161743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C6477E0-564A-5BDA-D989-1FCF8624BC1C}"/>
              </a:ext>
            </a:extLst>
          </p:cNvPr>
          <p:cNvSpPr txBox="1"/>
          <p:nvPr/>
        </p:nvSpPr>
        <p:spPr>
          <a:xfrm>
            <a:off x="1045029" y="2566709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C47F9B0-1D97-B326-21E0-A867289AB44C}"/>
              </a:ext>
            </a:extLst>
          </p:cNvPr>
          <p:cNvSpPr txBox="1"/>
          <p:nvPr/>
        </p:nvSpPr>
        <p:spPr>
          <a:xfrm>
            <a:off x="1045029" y="3971676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7DACB4D-71AC-EFC2-2E43-DA97063E1668}"/>
              </a:ext>
            </a:extLst>
          </p:cNvPr>
          <p:cNvSpPr txBox="1"/>
          <p:nvPr/>
        </p:nvSpPr>
        <p:spPr>
          <a:xfrm>
            <a:off x="974534" y="5376643"/>
            <a:ext cx="974691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81F8E60-A065-6387-AEB6-2D37EFA89773}"/>
              </a:ext>
            </a:extLst>
          </p:cNvPr>
          <p:cNvSpPr/>
          <p:nvPr/>
        </p:nvSpPr>
        <p:spPr>
          <a:xfrm>
            <a:off x="2951440" y="943828"/>
            <a:ext cx="776752" cy="7765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上長へ</a:t>
            </a:r>
            <a:endParaRPr lang="en-US" altLang="ja-JP" sz="969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個別メールで連絡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660EB18-4F08-CD75-241D-40AF0F36BBBF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608618" y="2726517"/>
            <a:ext cx="41101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C618B1E-E92B-ECBB-FC46-B21643D61CF3}"/>
              </a:ext>
            </a:extLst>
          </p:cNvPr>
          <p:cNvSpPr txBox="1"/>
          <p:nvPr/>
        </p:nvSpPr>
        <p:spPr>
          <a:xfrm>
            <a:off x="248618" y="187401"/>
            <a:ext cx="2753200" cy="390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38" dirty="0">
                <a:latin typeface="Noto Sans JP" panose="020B0200000000000000" pitchFamily="50" charset="-128"/>
                <a:ea typeface="Noto Sans JP" panose="020B0200000000000000" pitchFamily="50" charset="-128"/>
              </a:rPr>
              <a:t>研修管理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0E6DA51-FFDA-4BBD-30DA-1154388D2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5</a:t>
            </a:fld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04AC4F1-4B04-9262-491D-D723DE27AE05}"/>
              </a:ext>
            </a:extLst>
          </p:cNvPr>
          <p:cNvSpPr/>
          <p:nvPr/>
        </p:nvSpPr>
        <p:spPr>
          <a:xfrm>
            <a:off x="3337866" y="2334631"/>
            <a:ext cx="1128575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受講したい人の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情報を旧システムへ登録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0CE460E-44EE-E651-4459-6DE153B58A09}"/>
              </a:ext>
            </a:extLst>
          </p:cNvPr>
          <p:cNvSpPr/>
          <p:nvPr/>
        </p:nvSpPr>
        <p:spPr>
          <a:xfrm>
            <a:off x="4136453" y="943828"/>
            <a:ext cx="1290452" cy="7765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上長へ個人メールか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口頭にて、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変更したい旨を連絡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824E9AF-7FD4-2E16-61DF-0635203ADA92}"/>
              </a:ext>
            </a:extLst>
          </p:cNvPr>
          <p:cNvSpPr/>
          <p:nvPr/>
        </p:nvSpPr>
        <p:spPr>
          <a:xfrm>
            <a:off x="5567129" y="2334631"/>
            <a:ext cx="10414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旧システムから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変更・削除。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4DF1587-BA43-A669-297C-395097D92268}"/>
              </a:ext>
            </a:extLst>
          </p:cNvPr>
          <p:cNvSpPr/>
          <p:nvPr/>
        </p:nvSpPr>
        <p:spPr>
          <a:xfrm>
            <a:off x="7019636" y="2334631"/>
            <a:ext cx="923636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社員へ連絡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C0CB2810-C3D5-22B8-0700-6FEC3B51B305}"/>
              </a:ext>
            </a:extLst>
          </p:cNvPr>
          <p:cNvCxnSpPr>
            <a:cxnSpLocks/>
            <a:stCxn id="15" idx="3"/>
            <a:endCxn id="6" idx="0"/>
          </p:cNvCxnSpPr>
          <p:nvPr/>
        </p:nvCxnSpPr>
        <p:spPr>
          <a:xfrm>
            <a:off x="3728192" y="1332085"/>
            <a:ext cx="173962" cy="1002546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32AAD5AC-AAC7-DA83-ADFA-F11B97A4008D}"/>
              </a:ext>
            </a:extLst>
          </p:cNvPr>
          <p:cNvCxnSpPr>
            <a:cxnSpLocks/>
            <a:stCxn id="6" idx="3"/>
            <a:endCxn id="4" idx="2"/>
          </p:cNvCxnSpPr>
          <p:nvPr/>
        </p:nvCxnSpPr>
        <p:spPr>
          <a:xfrm flipV="1">
            <a:off x="4466441" y="1720342"/>
            <a:ext cx="315238" cy="1006175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F575ED5D-1123-074D-8231-DE9C28486E5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5426905" y="1332085"/>
            <a:ext cx="660969" cy="1002546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4">
            <a:extLst>
              <a:ext uri="{FF2B5EF4-FFF2-40B4-BE49-F238E27FC236}">
                <a16:creationId xmlns:a16="http://schemas.microsoft.com/office/drawing/2014/main" id="{F0C103EC-E23D-04E7-DC61-75D5C24E1754}"/>
              </a:ext>
            </a:extLst>
          </p:cNvPr>
          <p:cNvSpPr/>
          <p:nvPr/>
        </p:nvSpPr>
        <p:spPr>
          <a:xfrm>
            <a:off x="1630640" y="943827"/>
            <a:ext cx="921895" cy="7765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969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メールで来た</a:t>
            </a:r>
            <a:endParaRPr kumimoji="1" lang="en-US" altLang="ja-JP" sz="969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en-US" altLang="ja-JP" sz="969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</a:t>
            </a:r>
            <a:r>
              <a:rPr kumimoji="1" lang="ja-JP" altLang="en-US" sz="969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から研修を</a:t>
            </a:r>
            <a:endParaRPr kumimoji="1" lang="en-US" altLang="ja-JP" sz="969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確認</a:t>
            </a:r>
            <a:endParaRPr lang="ja-JP" altLang="en-US" sz="95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</p:txBody>
      </p:sp>
      <p:cxnSp>
        <p:nvCxnSpPr>
          <p:cNvPr id="19" name="直線矢印コネクタ 17">
            <a:extLst>
              <a:ext uri="{FF2B5EF4-FFF2-40B4-BE49-F238E27FC236}">
                <a16:creationId xmlns:a16="http://schemas.microsoft.com/office/drawing/2014/main" id="{AAC7D6B6-75E6-1865-4142-EFC2F45175FA}"/>
              </a:ext>
            </a:extLst>
          </p:cNvPr>
          <p:cNvCxnSpPr>
            <a:cxnSpLocks/>
          </p:cNvCxnSpPr>
          <p:nvPr/>
        </p:nvCxnSpPr>
        <p:spPr>
          <a:xfrm>
            <a:off x="2551875" y="1311373"/>
            <a:ext cx="396504" cy="725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024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D8C0-3D61-EF4E-51C5-103BD8D2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DB073CE-8A53-9B4B-D11A-A2EC8840BBAF}"/>
              </a:ext>
            </a:extLst>
          </p:cNvPr>
          <p:cNvSpPr/>
          <p:nvPr/>
        </p:nvSpPr>
        <p:spPr>
          <a:xfrm>
            <a:off x="974533" y="1246594"/>
            <a:ext cx="7194934" cy="1266092"/>
          </a:xfrm>
          <a:prstGeom prst="roundRect">
            <a:avLst/>
          </a:prstGeom>
          <a:solidFill>
            <a:srgbClr val="FBFA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07A84B3-0866-9693-3199-5BC24A489B95}"/>
              </a:ext>
            </a:extLst>
          </p:cNvPr>
          <p:cNvSpPr/>
          <p:nvPr/>
        </p:nvSpPr>
        <p:spPr>
          <a:xfrm>
            <a:off x="974533" y="2651561"/>
            <a:ext cx="7194934" cy="1266092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4A7D7F1-5E57-1A2F-DDE0-F61AE84A950E}"/>
              </a:ext>
            </a:extLst>
          </p:cNvPr>
          <p:cNvSpPr txBox="1"/>
          <p:nvPr/>
        </p:nvSpPr>
        <p:spPr>
          <a:xfrm>
            <a:off x="1045027" y="1719832"/>
            <a:ext cx="904197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7830634-E3E7-6B91-4639-1C61C67D9FD1}"/>
              </a:ext>
            </a:extLst>
          </p:cNvPr>
          <p:cNvSpPr txBox="1"/>
          <p:nvPr/>
        </p:nvSpPr>
        <p:spPr>
          <a:xfrm>
            <a:off x="974534" y="3124799"/>
            <a:ext cx="974691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EC50B6E-A19A-4321-62CF-4DBFDB527339}"/>
              </a:ext>
            </a:extLst>
          </p:cNvPr>
          <p:cNvSpPr/>
          <p:nvPr/>
        </p:nvSpPr>
        <p:spPr>
          <a:xfrm>
            <a:off x="2081918" y="1487754"/>
            <a:ext cx="1210954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研修一覧が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まとめられた</a:t>
            </a:r>
            <a:r>
              <a:rPr kumimoji="1" lang="en-US" altLang="ja-JP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</a:t>
            </a:r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ファイルを閲覧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722924C-837F-7C1E-0BF6-063AFCC41BA8}"/>
              </a:ext>
            </a:extLst>
          </p:cNvPr>
          <p:cNvSpPr txBox="1"/>
          <p:nvPr/>
        </p:nvSpPr>
        <p:spPr>
          <a:xfrm>
            <a:off x="248618" y="187401"/>
            <a:ext cx="4454011" cy="390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38" dirty="0">
                <a:latin typeface="Noto Sans JP" panose="020B0200000000000000" pitchFamily="50" charset="-128"/>
                <a:ea typeface="Noto Sans JP" panose="020B0200000000000000" pitchFamily="50" charset="-128"/>
              </a:rPr>
              <a:t>研修閲覧・検索・並び替え・絞り込み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AE2EDF6-9631-AC3F-BAEA-F82A1F8E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BFAB050-BB56-E551-B489-C24D7F515005}"/>
              </a:ext>
            </a:extLst>
          </p:cNvPr>
          <p:cNvSpPr/>
          <p:nvPr/>
        </p:nvSpPr>
        <p:spPr>
          <a:xfrm>
            <a:off x="3752299" y="1487754"/>
            <a:ext cx="1043050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該当研修を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見つけて認識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129DBB0E-A20A-EA78-E936-106BF170A7D8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3292872" y="1879640"/>
            <a:ext cx="45942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93FD03E-E08C-0962-9C7B-F131E064AFA5}"/>
              </a:ext>
            </a:extLst>
          </p:cNvPr>
          <p:cNvSpPr txBox="1"/>
          <p:nvPr/>
        </p:nvSpPr>
        <p:spPr>
          <a:xfrm>
            <a:off x="4505623" y="941021"/>
            <a:ext cx="3899922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※</a:t>
            </a:r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ユーザーとは、社員・上長・管理者の総称</a:t>
            </a:r>
          </a:p>
        </p:txBody>
      </p:sp>
    </p:spTree>
    <p:extLst>
      <p:ext uri="{BB962C8B-B14F-4D97-AF65-F5344CB8AC3E}">
        <p14:creationId xmlns:p14="http://schemas.microsoft.com/office/powerpoint/2010/main" val="55164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CEF8-543C-8603-AAAE-A5515E26C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2505A72-BEDC-4967-6091-3B49CF717A71}"/>
              </a:ext>
            </a:extLst>
          </p:cNvPr>
          <p:cNvSpPr/>
          <p:nvPr/>
        </p:nvSpPr>
        <p:spPr>
          <a:xfrm>
            <a:off x="974533" y="688505"/>
            <a:ext cx="7194934" cy="1266092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BE502D7D-0292-6009-04CA-3302408BF079}"/>
              </a:ext>
            </a:extLst>
          </p:cNvPr>
          <p:cNvSpPr/>
          <p:nvPr/>
        </p:nvSpPr>
        <p:spPr>
          <a:xfrm>
            <a:off x="974533" y="2093471"/>
            <a:ext cx="7194934" cy="1266092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2AD50EB-34E6-4F37-7E72-25253E74EF1C}"/>
              </a:ext>
            </a:extLst>
          </p:cNvPr>
          <p:cNvSpPr/>
          <p:nvPr/>
        </p:nvSpPr>
        <p:spPr>
          <a:xfrm>
            <a:off x="974533" y="3498438"/>
            <a:ext cx="7194934" cy="1266092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892EBD9-DEB8-5BD2-5FD9-C7D4A12B6D73}"/>
              </a:ext>
            </a:extLst>
          </p:cNvPr>
          <p:cNvSpPr/>
          <p:nvPr/>
        </p:nvSpPr>
        <p:spPr>
          <a:xfrm>
            <a:off x="974533" y="4903404"/>
            <a:ext cx="7194934" cy="1266092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831BAFF-73AD-ECCF-112D-167339CF4015}"/>
              </a:ext>
            </a:extLst>
          </p:cNvPr>
          <p:cNvSpPr txBox="1"/>
          <p:nvPr/>
        </p:nvSpPr>
        <p:spPr>
          <a:xfrm>
            <a:off x="1045029" y="1161743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69D085-E111-DA87-806A-7EECA0565236}"/>
              </a:ext>
            </a:extLst>
          </p:cNvPr>
          <p:cNvSpPr txBox="1"/>
          <p:nvPr/>
        </p:nvSpPr>
        <p:spPr>
          <a:xfrm>
            <a:off x="1045029" y="2566709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C989E7C-7025-EFC8-ACB6-60DF7C4DADE1}"/>
              </a:ext>
            </a:extLst>
          </p:cNvPr>
          <p:cNvSpPr txBox="1"/>
          <p:nvPr/>
        </p:nvSpPr>
        <p:spPr>
          <a:xfrm>
            <a:off x="1045029" y="3971676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4810E43-A372-4665-B104-C20870AF604C}"/>
              </a:ext>
            </a:extLst>
          </p:cNvPr>
          <p:cNvSpPr txBox="1"/>
          <p:nvPr/>
        </p:nvSpPr>
        <p:spPr>
          <a:xfrm>
            <a:off x="974534" y="5376643"/>
            <a:ext cx="974691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C86F1AE-AA8A-EA99-7A39-B608919816A3}"/>
              </a:ext>
            </a:extLst>
          </p:cNvPr>
          <p:cNvSpPr/>
          <p:nvPr/>
        </p:nvSpPr>
        <p:spPr>
          <a:xfrm>
            <a:off x="2069369" y="2336878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部下に口頭で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研修状況を伺う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1A31DA40-0B91-59D7-B93A-D3C3D15B02C0}"/>
              </a:ext>
            </a:extLst>
          </p:cNvPr>
          <p:cNvCxnSpPr>
            <a:cxnSpLocks/>
            <a:stCxn id="15" idx="3"/>
            <a:endCxn id="6" idx="2"/>
          </p:cNvCxnSpPr>
          <p:nvPr/>
        </p:nvCxnSpPr>
        <p:spPr>
          <a:xfrm flipV="1">
            <a:off x="3220258" y="1713436"/>
            <a:ext cx="575445" cy="1015328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BB8AE99-80CB-A968-B71F-7DF91B4CA001}"/>
              </a:ext>
            </a:extLst>
          </p:cNvPr>
          <p:cNvSpPr txBox="1"/>
          <p:nvPr/>
        </p:nvSpPr>
        <p:spPr>
          <a:xfrm>
            <a:off x="248617" y="187401"/>
            <a:ext cx="4702073" cy="390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38" dirty="0">
                <a:latin typeface="Noto Sans JP" panose="020B0200000000000000" pitchFamily="50" charset="-128"/>
                <a:ea typeface="Noto Sans JP" panose="020B0200000000000000" pitchFamily="50" charset="-128"/>
              </a:rPr>
              <a:t>部下研修一覧表示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0757AF-341F-BB2A-3F14-273EBDD3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7</a:t>
            </a:fld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A688215-4732-DC71-DC4F-8ACA149B2FCA}"/>
              </a:ext>
            </a:extLst>
          </p:cNvPr>
          <p:cNvSpPr/>
          <p:nvPr/>
        </p:nvSpPr>
        <p:spPr>
          <a:xfrm>
            <a:off x="3220258" y="929665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研修状況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を報告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19BE750-F984-15A0-60A7-0A163E9BDDF4}"/>
              </a:ext>
            </a:extLst>
          </p:cNvPr>
          <p:cNvSpPr/>
          <p:nvPr/>
        </p:nvSpPr>
        <p:spPr>
          <a:xfrm>
            <a:off x="4523477" y="2327557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報告を受けた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50" dirty="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研修状況を</a:t>
            </a:r>
            <a:r>
              <a:rPr kumimoji="1" lang="en-US" altLang="ja-JP" sz="950" dirty="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Excel</a:t>
            </a:r>
            <a:r>
              <a:rPr kumimoji="1" lang="ja-JP" altLang="en-US" sz="950" dirty="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に記入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4" name="コネクタ: カギ線 3">
            <a:extLst>
              <a:ext uri="{FF2B5EF4-FFF2-40B4-BE49-F238E27FC236}">
                <a16:creationId xmlns:a16="http://schemas.microsoft.com/office/drawing/2014/main" id="{F109D7EF-11A2-201A-0E21-2CAE9FAFCC1A}"/>
              </a:ext>
            </a:extLst>
          </p:cNvPr>
          <p:cNvCxnSpPr>
            <a:cxnSpLocks/>
            <a:stCxn id="6" idx="3"/>
            <a:endCxn id="27" idx="0"/>
          </p:cNvCxnSpPr>
          <p:nvPr/>
        </p:nvCxnSpPr>
        <p:spPr>
          <a:xfrm>
            <a:off x="4371147" y="1321551"/>
            <a:ext cx="727775" cy="1006006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26">
            <a:extLst>
              <a:ext uri="{FF2B5EF4-FFF2-40B4-BE49-F238E27FC236}">
                <a16:creationId xmlns:a16="http://schemas.microsoft.com/office/drawing/2014/main" id="{EE5AA874-64D5-5609-9F21-A573AA984D68}"/>
              </a:ext>
            </a:extLst>
          </p:cNvPr>
          <p:cNvSpPr/>
          <p:nvPr/>
        </p:nvSpPr>
        <p:spPr>
          <a:xfrm>
            <a:off x="5408848" y="5136070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研修状況が登録される</a:t>
            </a:r>
            <a:endParaRPr lang="en-US" altLang="ja-JP" sz="95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919BE750-F984-15A0-60A7-0A163E9BDDF4}"/>
              </a:ext>
            </a:extLst>
          </p:cNvPr>
          <p:cNvSpPr/>
          <p:nvPr/>
        </p:nvSpPr>
        <p:spPr>
          <a:xfrm>
            <a:off x="4523477" y="2327557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報告を受けた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50" dirty="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研修状況を</a:t>
            </a:r>
            <a:r>
              <a:rPr kumimoji="1" lang="en-US" altLang="ja-JP" sz="950" dirty="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Excel</a:t>
            </a:r>
            <a:r>
              <a:rPr kumimoji="1" lang="ja-JP" altLang="en-US" sz="950" dirty="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に記入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6" name="コネクタ: カギ線 3">
            <a:extLst>
              <a:ext uri="{FF2B5EF4-FFF2-40B4-BE49-F238E27FC236}">
                <a16:creationId xmlns:a16="http://schemas.microsoft.com/office/drawing/2014/main" id="{B3C33D55-324E-1492-D433-7899B4754D87}"/>
              </a:ext>
            </a:extLst>
          </p:cNvPr>
          <p:cNvCxnSpPr>
            <a:cxnSpLocks/>
          </p:cNvCxnSpPr>
          <p:nvPr/>
        </p:nvCxnSpPr>
        <p:spPr>
          <a:xfrm>
            <a:off x="5670174" y="2736693"/>
            <a:ext cx="314118" cy="2406634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509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DB9B-0D51-D0EF-D463-A6EFE52B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8B46C67-8B6E-00D0-75AA-B5759445294C}"/>
              </a:ext>
            </a:extLst>
          </p:cNvPr>
          <p:cNvSpPr/>
          <p:nvPr/>
        </p:nvSpPr>
        <p:spPr>
          <a:xfrm>
            <a:off x="974533" y="688505"/>
            <a:ext cx="7194934" cy="1266092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6386FFF-96FA-C5DA-2722-994F011588A4}"/>
              </a:ext>
            </a:extLst>
          </p:cNvPr>
          <p:cNvSpPr/>
          <p:nvPr/>
        </p:nvSpPr>
        <p:spPr>
          <a:xfrm>
            <a:off x="974533" y="2093471"/>
            <a:ext cx="7194934" cy="1266092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0B97445-27FA-656C-53E8-935616DD90A7}"/>
              </a:ext>
            </a:extLst>
          </p:cNvPr>
          <p:cNvSpPr/>
          <p:nvPr/>
        </p:nvSpPr>
        <p:spPr>
          <a:xfrm>
            <a:off x="974533" y="3498438"/>
            <a:ext cx="7194934" cy="1266092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77F709E-DDC2-28EA-3419-D97E2730A049}"/>
              </a:ext>
            </a:extLst>
          </p:cNvPr>
          <p:cNvSpPr/>
          <p:nvPr/>
        </p:nvSpPr>
        <p:spPr>
          <a:xfrm>
            <a:off x="974533" y="4903404"/>
            <a:ext cx="7194934" cy="1266092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6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7693570-AD71-6080-DFCD-16E71C73B4EE}"/>
              </a:ext>
            </a:extLst>
          </p:cNvPr>
          <p:cNvSpPr txBox="1"/>
          <p:nvPr/>
        </p:nvSpPr>
        <p:spPr>
          <a:xfrm>
            <a:off x="1045029" y="1161743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CC806AC-6BC7-E3D3-BAD5-4A60520305EF}"/>
              </a:ext>
            </a:extLst>
          </p:cNvPr>
          <p:cNvSpPr txBox="1"/>
          <p:nvPr/>
        </p:nvSpPr>
        <p:spPr>
          <a:xfrm>
            <a:off x="1045029" y="2566709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0D9762D-5A40-F379-A007-513DB22CF88B}"/>
              </a:ext>
            </a:extLst>
          </p:cNvPr>
          <p:cNvSpPr txBox="1"/>
          <p:nvPr/>
        </p:nvSpPr>
        <p:spPr>
          <a:xfrm>
            <a:off x="1045029" y="3971676"/>
            <a:ext cx="763674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FCD1EC4-4E57-4E1B-506E-D9175F5C3F8A}"/>
              </a:ext>
            </a:extLst>
          </p:cNvPr>
          <p:cNvSpPr txBox="1"/>
          <p:nvPr/>
        </p:nvSpPr>
        <p:spPr>
          <a:xfrm>
            <a:off x="974534" y="5376643"/>
            <a:ext cx="974691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5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A36B1ED-02F2-06FE-E341-A47330081C11}"/>
              </a:ext>
            </a:extLst>
          </p:cNvPr>
          <p:cNvSpPr/>
          <p:nvPr/>
        </p:nvSpPr>
        <p:spPr>
          <a:xfrm>
            <a:off x="2139889" y="922591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上長に自分が受講した研修を</a:t>
            </a:r>
            <a:endParaRPr kumimoji="1" lang="en-US" altLang="ja-JP" sz="95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  <a:p>
            <a:pPr algn="ctr"/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伺う</a:t>
            </a:r>
            <a:endParaRPr lang="en-US" altLang="ja-JP" sz="95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402DE83F-3B98-24C2-A246-F42A5BEB45D2}"/>
              </a:ext>
            </a:extLst>
          </p:cNvPr>
          <p:cNvCxnSpPr>
            <a:cxnSpLocks/>
            <a:stCxn id="15" idx="3"/>
            <a:endCxn id="6" idx="0"/>
          </p:cNvCxnSpPr>
          <p:nvPr/>
        </p:nvCxnSpPr>
        <p:spPr>
          <a:xfrm>
            <a:off x="3290778" y="1314477"/>
            <a:ext cx="575445" cy="1020154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B5F7EF6-3BE8-BB5B-59BF-FBD6CDE6BCEA}"/>
              </a:ext>
            </a:extLst>
          </p:cNvPr>
          <p:cNvSpPr txBox="1"/>
          <p:nvPr/>
        </p:nvSpPr>
        <p:spPr>
          <a:xfrm>
            <a:off x="248618" y="187401"/>
            <a:ext cx="2753200" cy="390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38" dirty="0">
                <a:latin typeface="Noto Sans JP" panose="020B0200000000000000" pitchFamily="50" charset="-128"/>
                <a:ea typeface="Noto Sans JP" panose="020B0200000000000000" pitchFamily="50" charset="-128"/>
              </a:rPr>
              <a:t>受講履歴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F5EC99-57A4-DA59-0ED4-A8E0F76C7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8</a:t>
            </a:fld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936829E-EC7A-8AE3-1A59-28B6774FEEF3}"/>
              </a:ext>
            </a:extLst>
          </p:cNvPr>
          <p:cNvSpPr/>
          <p:nvPr/>
        </p:nvSpPr>
        <p:spPr>
          <a:xfrm>
            <a:off x="3290778" y="2334631"/>
            <a:ext cx="1150889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部下の研修受講状況</a:t>
            </a:r>
            <a:r>
              <a:rPr kumimoji="1" lang="en-US" altLang="ja-JP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</a:t>
            </a:r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969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確認する</a:t>
            </a:r>
            <a:endParaRPr kumimoji="1" lang="en-US" altLang="ja-JP" sz="969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9E22C91-3AFB-14AF-B3AA-C865469DF223}"/>
              </a:ext>
            </a:extLst>
          </p:cNvPr>
          <p:cNvSpPr/>
          <p:nvPr/>
        </p:nvSpPr>
        <p:spPr>
          <a:xfrm>
            <a:off x="4692963" y="922591"/>
            <a:ext cx="1230781" cy="78377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受講状況が</a:t>
            </a:r>
            <a:endParaRPr kumimoji="1" lang="en-US" altLang="ja-JP" sz="95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  <a:p>
            <a:pPr algn="ctr"/>
            <a:r>
              <a:rPr kumimoji="1" lang="ja-JP" altLang="en-US" sz="95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伝えられる</a:t>
            </a:r>
            <a:endParaRPr lang="en-US" altLang="ja-JP" sz="95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00C2343E-A770-7952-475F-7A52DD5679DD}"/>
              </a:ext>
            </a:extLst>
          </p:cNvPr>
          <p:cNvCxnSpPr>
            <a:cxnSpLocks/>
            <a:stCxn id="6" idx="3"/>
            <a:endCxn id="27" idx="2"/>
          </p:cNvCxnSpPr>
          <p:nvPr/>
        </p:nvCxnSpPr>
        <p:spPr>
          <a:xfrm flipV="1">
            <a:off x="4441667" y="1706362"/>
            <a:ext cx="866687" cy="1020155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07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1CFD4E25EF51A40997B85EE992EF575" ma:contentTypeVersion="5" ma:contentTypeDescription="新しいドキュメントを作成します。" ma:contentTypeScope="" ma:versionID="a1960491a1d19b1f920846e68d04291f">
  <xsd:schema xmlns:xsd="http://www.w3.org/2001/XMLSchema" xmlns:xs="http://www.w3.org/2001/XMLSchema" xmlns:p="http://schemas.microsoft.com/office/2006/metadata/properties" xmlns:ns3="78776255-4a08-4403-a806-e9df889f1656" targetNamespace="http://schemas.microsoft.com/office/2006/metadata/properties" ma:root="true" ma:fieldsID="62461d910d4d44e083166f9bd3eb160c" ns3:_="">
    <xsd:import namespace="78776255-4a08-4403-a806-e9df889f165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76255-4a08-4403-a806-e9df889f165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776255-4a08-4403-a806-e9df889f1656" xsi:nil="true"/>
  </documentManagement>
</p:properties>
</file>

<file path=customXml/itemProps1.xml><?xml version="1.0" encoding="utf-8"?>
<ds:datastoreItem xmlns:ds="http://schemas.openxmlformats.org/officeDocument/2006/customXml" ds:itemID="{28F612E2-9538-43C6-B557-D068CBB08C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E901A8-F63E-46EF-9072-2A3128F033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776255-4a08-4403-a806-e9df889f16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6F95BA-8A89-4710-B972-82C439E6FDB0}">
  <ds:schemaRefs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8776255-4a08-4403-a806-e9df889f16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247</Words>
  <Application>Microsoft Office PowerPoint</Application>
  <PresentationFormat>On-screen Show (4:3)</PresentationFormat>
  <Paragraphs>92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テーマ</vt:lpstr>
      <vt:lpstr>業務フロー（現状）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AT235</dc:creator>
  <cp:lastModifiedBy>AT235</cp:lastModifiedBy>
  <cp:revision>37</cp:revision>
  <dcterms:created xsi:type="dcterms:W3CDTF">2026-06-30T07:20:43Z</dcterms:created>
  <dcterms:modified xsi:type="dcterms:W3CDTF">2026-07-02T00:43:53Z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0x01010021CFD4E25EF51A40997B85EE992EF575</vt:lpwstr>
  </property>
</Properties>
</file>